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5"/>
  </p:handoutMasterIdLst>
  <p:sldIdLst>
    <p:sldId id="273" r:id="rId3"/>
    <p:sldId id="256" r:id="rId4"/>
    <p:sldId id="271" r:id="rId5"/>
    <p:sldId id="362" r:id="rId7"/>
    <p:sldId id="387" r:id="rId8"/>
    <p:sldId id="364" r:id="rId9"/>
    <p:sldId id="365" r:id="rId10"/>
    <p:sldId id="367" r:id="rId11"/>
    <p:sldId id="380" r:id="rId12"/>
    <p:sldId id="382" r:id="rId13"/>
    <p:sldId id="366" r:id="rId14"/>
    <p:sldId id="375" r:id="rId15"/>
    <p:sldId id="376" r:id="rId16"/>
    <p:sldId id="377" r:id="rId17"/>
    <p:sldId id="372" r:id="rId18"/>
    <p:sldId id="371" r:id="rId19"/>
    <p:sldId id="370" r:id="rId20"/>
    <p:sldId id="384" r:id="rId21"/>
    <p:sldId id="383" r:id="rId22"/>
    <p:sldId id="385" r:id="rId23"/>
    <p:sldId id="270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3E7F"/>
    <a:srgbClr val="003C82"/>
    <a:srgbClr val="2B5393"/>
    <a:srgbClr val="C8B8D4"/>
    <a:srgbClr val="94B5D7"/>
    <a:srgbClr val="94B5F3"/>
    <a:srgbClr val="D3E6EF"/>
    <a:srgbClr val="DCF2FF"/>
    <a:srgbClr val="A3AC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8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75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系统级性能指标汇总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13E7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电机上升时间(s)</c:v>
                </c:pt>
                <c:pt idx="1">
                  <c:v>电机超调量(%)</c:v>
                </c:pt>
                <c:pt idx="2">
                  <c:v>视频数据载荷(MB/s)</c:v>
                </c:pt>
                <c:pt idx="3">
                  <c:v>最大缓冲区占用(MB)</c:v>
                </c:pt>
                <c:pt idx="4">
                  <c:v>最小控制信道信噪比(dB)</c:v>
                </c:pt>
                <c:pt idx="5">
                  <c:v>最小视频信道信噪比(dB)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</c:v>
                </c:pt>
                <c:pt idx="1">
                  <c:v>9.55</c:v>
                </c:pt>
                <c:pt idx="2">
                  <c:v>4.53</c:v>
                </c:pt>
                <c:pt idx="3">
                  <c:v>4.89</c:v>
                </c:pt>
                <c:pt idx="4">
                  <c:v>61.56</c:v>
                </c:pt>
                <c:pt idx="5">
                  <c:v>44.76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511003647"/>
        <c:axId val="957906226"/>
      </c:barChart>
      <c:catAx>
        <c:axId val="511003647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957906226"/>
        <c:crosses val="autoZero"/>
        <c:auto val="1"/>
        <c:lblAlgn val="ctr"/>
        <c:lblOffset val="100"/>
        <c:noMultiLvlLbl val="0"/>
      </c:catAx>
      <c:valAx>
        <c:axId val="95790622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1003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0f0aeb-32d9-49b3-a0cd-4a6e4a12e0ae}"/>
      </c:ext>
    </c:extLst>
  </c:chart>
  <c:spPr>
    <a:noFill/>
    <a:ln>
      <a:noFill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BD120-F3F0-421C-8865-9085690E9A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D0DB2-454F-406F-B4D2-C4209522F6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4DD05-9142-41D9-B63D-79C69A6DF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30A6-6C82-4A91-99D0-48D278B458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341" y="136525"/>
            <a:ext cx="2855237" cy="6268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FC525-4C7C-4F9E-9AF5-F9C98250D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image" Target="../media/image3.jpeg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emf"/><Relationship Id="rId8" Type="http://schemas.openxmlformats.org/officeDocument/2006/relationships/oleObject" Target="../embeddings/oleObject1.bin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2" Type="http://schemas.openxmlformats.org/officeDocument/2006/relationships/notesSlide" Target="../notesSlides/notesSlide2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jpeg"/><Relationship Id="rId2" Type="http://schemas.openxmlformats.org/officeDocument/2006/relationships/image" Target="../media/image7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jpeg"/><Relationship Id="rId2" Type="http://schemas.openxmlformats.org/officeDocument/2006/relationships/image" Target="../media/image7.emf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0.wmf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2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jpeg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7" Type="http://schemas.openxmlformats.org/officeDocument/2006/relationships/slideLayout" Target="../slideLayouts/slideLayout6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540"/>
            <a:ext cx="12192000" cy="4715510"/>
          </a:xfrm>
          <a:prstGeom prst="rect">
            <a:avLst/>
          </a:prstGeom>
          <a:solidFill>
            <a:srgbClr val="013E8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3988118" y="3478530"/>
            <a:ext cx="4171950" cy="744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cs typeface="+mn-cs"/>
              </a:rPr>
              <a:t>DSP</a:t>
            </a:r>
            <a:r>
              <a:rPr lang="zh-CN" altLang="en-US" sz="2400" dirty="0">
                <a:solidFill>
                  <a:schemeClr val="bg1"/>
                </a:solidFill>
                <a:cs typeface="+mn-cs"/>
              </a:rPr>
              <a:t>技术及应用课程设计答辩</a:t>
            </a:r>
            <a:endParaRPr lang="zh-CN" altLang="en-US" sz="6000" dirty="0">
              <a:solidFill>
                <a:schemeClr val="bg1"/>
              </a:solidFill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35" y="212725"/>
            <a:ext cx="4790891" cy="540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288098" y="4967605"/>
            <a:ext cx="9634855" cy="1448435"/>
            <a:chOff x="2335" y="8414"/>
            <a:chExt cx="15173" cy="2281"/>
          </a:xfrm>
        </p:grpSpPr>
        <p:sp>
          <p:nvSpPr>
            <p:cNvPr id="12" name="Rectangle 4"/>
            <p:cNvSpPr txBox="1">
              <a:spLocks noChangeArrowheads="1"/>
            </p:cNvSpPr>
            <p:nvPr/>
          </p:nvSpPr>
          <p:spPr>
            <a:xfrm>
              <a:off x="6857" y="9991"/>
              <a:ext cx="6099" cy="70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2026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22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lang="zh-CN" altLang="en-US" sz="2000" b="1" dirty="0">
                <a:solidFill>
                  <a:srgbClr val="003F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335" y="8414"/>
              <a:ext cx="15173" cy="7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陈可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endParaRPr lang="en-US" altLang="zh-CN" sz="2000" b="1" dirty="0">
                <a:solidFill>
                  <a:srgbClr val="003F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费雅轩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李汶骏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刘星华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肖翀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叶海锋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郑乐阳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朱煜程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朱怡圆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朱云天</a:t>
              </a:r>
              <a:r>
                <a:rPr lang="en-US" altLang="zh-CN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</a:t>
              </a:r>
              <a:r>
                <a:rPr lang="zh-CN" altLang="en-US" sz="2000" b="1" dirty="0">
                  <a:solidFill>
                    <a:srgbClr val="003F88"/>
                  </a:solidFill>
                  <a:latin typeface="微软雅黑" panose="020B0503020204020204" charset="-122"/>
                  <a:ea typeface="微软雅黑" panose="020B0503020204020204" charset="-122"/>
                </a:rPr>
                <a:t>周汉臣</a:t>
              </a:r>
              <a:endParaRPr lang="zh-CN" altLang="en-US" sz="2000" b="1" dirty="0">
                <a:solidFill>
                  <a:srgbClr val="003F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3510" y="1760855"/>
            <a:ext cx="118611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基于 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MATLAB/Simulink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的机器人端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无线控制系统设计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 txBox="1"/>
          <p:nvPr/>
        </p:nvSpPr>
        <p:spPr>
          <a:xfrm>
            <a:off x="-24320" y="210594"/>
            <a:ext cx="3183679" cy="4967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600" b="1" dirty="0">
                <a:solidFill>
                  <a:srgbClr val="003F88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altLang="zh-CN" sz="3600" b="1" dirty="0">
                <a:solidFill>
                  <a:srgbClr val="003F8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2000" b="1" dirty="0">
                <a:solidFill>
                  <a:srgbClr val="003F88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GB" sz="2000" b="1" dirty="0">
              <a:solidFill>
                <a:srgbClr val="003F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56832" y="811008"/>
            <a:ext cx="8325529" cy="0"/>
          </a:xfrm>
          <a:prstGeom prst="line">
            <a:avLst/>
          </a:prstGeom>
          <a:ln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3394979" y="1080388"/>
            <a:ext cx="6127515" cy="646331"/>
            <a:chOff x="2074052" y="1242090"/>
            <a:chExt cx="6127515" cy="646331"/>
          </a:xfrm>
        </p:grpSpPr>
        <p:grpSp>
          <p:nvGrpSpPr>
            <p:cNvPr id="11" name="组合 10"/>
            <p:cNvGrpSpPr/>
            <p:nvPr/>
          </p:nvGrpSpPr>
          <p:grpSpPr>
            <a:xfrm>
              <a:off x="2074052" y="1242090"/>
              <a:ext cx="1399299" cy="646331"/>
              <a:chOff x="2215144" y="947195"/>
              <a:chExt cx="1312014" cy="914077"/>
            </a:xfrm>
          </p:grpSpPr>
          <p:sp>
            <p:nvSpPr>
              <p:cNvPr id="17" name="平行四边形 16"/>
              <p:cNvSpPr/>
              <p:nvPr>
                <p:custDataLst>
                  <p:tags r:id="rId2"/>
                </p:custDataLst>
              </p:nvPr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003F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Impact" panose="020B0806030902050204" pitchFamily="34" charset="0"/>
                </a:endParaRPr>
              </a:p>
            </p:txBody>
          </p:sp>
          <p:sp>
            <p:nvSpPr>
              <p:cNvPr id="18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460359" y="947195"/>
                <a:ext cx="1066799" cy="91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9522" y="1298845"/>
              <a:ext cx="4932045" cy="577215"/>
              <a:chOff x="4315150" y="953426"/>
              <a:chExt cx="4522479" cy="539940"/>
            </a:xfrm>
          </p:grpSpPr>
          <p:sp>
            <p:nvSpPr>
              <p:cNvPr id="32" name="矩形 31"/>
              <p:cNvSpPr/>
              <p:nvPr>
                <p:custDataLst>
                  <p:tags r:id="rId4"/>
                </p:custDataLst>
              </p:nvPr>
            </p:nvSpPr>
            <p:spPr>
              <a:xfrm>
                <a:off x="4736749" y="982824"/>
                <a:ext cx="2827147" cy="466879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系统架构</a:t>
                </a:r>
                <a:endPara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平行四边形 32"/>
              <p:cNvSpPr/>
              <p:nvPr>
                <p:custDataLst>
                  <p:tags r:id="rId5"/>
                </p:custDataLst>
              </p:nvPr>
            </p:nvSpPr>
            <p:spPr>
              <a:xfrm>
                <a:off x="4315150" y="953426"/>
                <a:ext cx="4522479" cy="539940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46" name="组合 45"/>
          <p:cNvGrpSpPr/>
          <p:nvPr>
            <p:custDataLst>
              <p:tags r:id="rId6"/>
            </p:custDataLst>
          </p:nvPr>
        </p:nvGrpSpPr>
        <p:grpSpPr>
          <a:xfrm>
            <a:off x="3394979" y="3982239"/>
            <a:ext cx="6127515" cy="645795"/>
            <a:chOff x="2074052" y="1242090"/>
            <a:chExt cx="6127515" cy="646331"/>
          </a:xfrm>
        </p:grpSpPr>
        <p:grpSp>
          <p:nvGrpSpPr>
            <p:cNvPr id="47" name="组合 46"/>
            <p:cNvGrpSpPr/>
            <p:nvPr/>
          </p:nvGrpSpPr>
          <p:grpSpPr>
            <a:xfrm>
              <a:off x="2074052" y="1242090"/>
              <a:ext cx="1399299" cy="646331"/>
              <a:chOff x="2215144" y="947195"/>
              <a:chExt cx="1312014" cy="914077"/>
            </a:xfrm>
          </p:grpSpPr>
          <p:sp>
            <p:nvSpPr>
              <p:cNvPr id="51" name="平行四边形 50"/>
              <p:cNvSpPr/>
              <p:nvPr>
                <p:custDataLst>
                  <p:tags r:id="rId7"/>
                </p:custDataLst>
              </p:nvPr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003F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Impact" panose="020B0806030902050204" pitchFamily="34" charset="0"/>
                </a:endParaRPr>
              </a:p>
            </p:txBody>
          </p:sp>
          <p:sp>
            <p:nvSpPr>
              <p:cNvPr id="52" name="文本框 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460359" y="947195"/>
                <a:ext cx="1066799" cy="91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04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3269522" y="1298845"/>
              <a:ext cx="4932045" cy="577059"/>
              <a:chOff x="4315150" y="953426"/>
              <a:chExt cx="4522479" cy="539794"/>
            </a:xfrm>
          </p:grpSpPr>
          <p:sp>
            <p:nvSpPr>
              <p:cNvPr id="49" name="矩形 48"/>
              <p:cNvSpPr/>
              <p:nvPr>
                <p:custDataLst>
                  <p:tags r:id="rId9"/>
                </p:custDataLst>
              </p:nvPr>
            </p:nvSpPr>
            <p:spPr>
              <a:xfrm>
                <a:off x="4736712" y="982556"/>
                <a:ext cx="4100917" cy="467266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射频集成模块设计与仿真</a:t>
                </a:r>
                <a:endPara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0" name="平行四边形 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4315150" y="953426"/>
                <a:ext cx="4522479" cy="539794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53" name="组合 52"/>
          <p:cNvGrpSpPr/>
          <p:nvPr>
            <p:custDataLst>
              <p:tags r:id="rId11"/>
            </p:custDataLst>
          </p:nvPr>
        </p:nvGrpSpPr>
        <p:grpSpPr>
          <a:xfrm>
            <a:off x="3394979" y="3015134"/>
            <a:ext cx="6127515" cy="645795"/>
            <a:chOff x="2074052" y="1242090"/>
            <a:chExt cx="6127515" cy="646331"/>
          </a:xfrm>
        </p:grpSpPr>
        <p:grpSp>
          <p:nvGrpSpPr>
            <p:cNvPr id="54" name="组合 53"/>
            <p:cNvGrpSpPr/>
            <p:nvPr/>
          </p:nvGrpSpPr>
          <p:grpSpPr>
            <a:xfrm>
              <a:off x="2074052" y="1242090"/>
              <a:ext cx="1399299" cy="646331"/>
              <a:chOff x="2215144" y="947195"/>
              <a:chExt cx="1312014" cy="914077"/>
            </a:xfrm>
          </p:grpSpPr>
          <p:sp>
            <p:nvSpPr>
              <p:cNvPr id="58" name="平行四边形 5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003F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Impact" panose="020B0806030902050204" pitchFamily="34" charset="0"/>
                </a:endParaRPr>
              </a:p>
            </p:txBody>
          </p:sp>
          <p:sp>
            <p:nvSpPr>
              <p:cNvPr id="59" name="文本框 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460359" y="947195"/>
                <a:ext cx="1066799" cy="91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03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3269522" y="1298845"/>
              <a:ext cx="4932045" cy="577059"/>
              <a:chOff x="4315150" y="953426"/>
              <a:chExt cx="4522479" cy="539794"/>
            </a:xfrm>
          </p:grpSpPr>
          <p:sp>
            <p:nvSpPr>
              <p:cNvPr id="56" name="矩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4736712" y="982556"/>
                <a:ext cx="3805707" cy="467266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视频采集模块设计与仿真</a:t>
                </a:r>
                <a:endPara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7" name="平行四边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4315150" y="953426"/>
                <a:ext cx="4522479" cy="539794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59"/>
          <p:cNvGrpSpPr/>
          <p:nvPr>
            <p:custDataLst>
              <p:tags r:id="rId16"/>
            </p:custDataLst>
          </p:nvPr>
        </p:nvGrpSpPr>
        <p:grpSpPr>
          <a:xfrm>
            <a:off x="3394979" y="2048029"/>
            <a:ext cx="6469780" cy="645795"/>
            <a:chOff x="2074052" y="1242090"/>
            <a:chExt cx="6469780" cy="646331"/>
          </a:xfrm>
        </p:grpSpPr>
        <p:grpSp>
          <p:nvGrpSpPr>
            <p:cNvPr id="61" name="组合 60"/>
            <p:cNvGrpSpPr/>
            <p:nvPr/>
          </p:nvGrpSpPr>
          <p:grpSpPr>
            <a:xfrm>
              <a:off x="2074052" y="1242090"/>
              <a:ext cx="1399299" cy="646331"/>
              <a:chOff x="2215144" y="947195"/>
              <a:chExt cx="1312014" cy="914077"/>
            </a:xfrm>
          </p:grpSpPr>
          <p:sp>
            <p:nvSpPr>
              <p:cNvPr id="65" name="平行四边形 64"/>
              <p:cNvSpPr/>
              <p:nvPr>
                <p:custDataLst>
                  <p:tags r:id="rId17"/>
                </p:custDataLst>
              </p:nvPr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003F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Impact" panose="020B0806030902050204" pitchFamily="34" charset="0"/>
                </a:endParaRPr>
              </a:p>
            </p:txBody>
          </p:sp>
          <p:sp>
            <p:nvSpPr>
              <p:cNvPr id="66" name="文本框 9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460359" y="947195"/>
                <a:ext cx="1066799" cy="91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3269522" y="1298845"/>
              <a:ext cx="5274310" cy="577059"/>
              <a:chOff x="4315150" y="953426"/>
              <a:chExt cx="4836322" cy="539794"/>
            </a:xfrm>
          </p:grpSpPr>
          <p:sp>
            <p:nvSpPr>
              <p:cNvPr id="63" name="矩形 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4736712" y="982556"/>
                <a:ext cx="4414760" cy="467266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驱动控制模块设计与仿真</a:t>
                </a:r>
                <a:endPara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4" name="平行四边形 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15150" y="953426"/>
                <a:ext cx="4522479" cy="539794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66"/>
          <p:cNvGrpSpPr/>
          <p:nvPr>
            <p:custDataLst>
              <p:tags r:id="rId21"/>
            </p:custDataLst>
          </p:nvPr>
        </p:nvGrpSpPr>
        <p:grpSpPr>
          <a:xfrm>
            <a:off x="3394979" y="4949344"/>
            <a:ext cx="6127515" cy="645795"/>
            <a:chOff x="2074052" y="1242090"/>
            <a:chExt cx="6127515" cy="646331"/>
          </a:xfrm>
        </p:grpSpPr>
        <p:grpSp>
          <p:nvGrpSpPr>
            <p:cNvPr id="68" name="组合 67"/>
            <p:cNvGrpSpPr/>
            <p:nvPr/>
          </p:nvGrpSpPr>
          <p:grpSpPr>
            <a:xfrm>
              <a:off x="2074052" y="1242090"/>
              <a:ext cx="1399299" cy="646331"/>
              <a:chOff x="2215144" y="947195"/>
              <a:chExt cx="1312014" cy="914077"/>
            </a:xfrm>
          </p:grpSpPr>
          <p:sp>
            <p:nvSpPr>
              <p:cNvPr id="72" name="平行四边形 71"/>
              <p:cNvSpPr/>
              <p:nvPr>
                <p:custDataLst>
                  <p:tags r:id="rId22"/>
                </p:custDataLst>
              </p:nvPr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003F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Impact" panose="020B0806030902050204" pitchFamily="34" charset="0"/>
                </a:endParaRPr>
              </a:p>
            </p:txBody>
          </p:sp>
          <p:sp>
            <p:nvSpPr>
              <p:cNvPr id="73" name="文本框 9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460359" y="947195"/>
                <a:ext cx="1066799" cy="91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05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3269522" y="1298845"/>
              <a:ext cx="4932045" cy="577059"/>
              <a:chOff x="4315150" y="953426"/>
              <a:chExt cx="4522479" cy="539794"/>
            </a:xfrm>
          </p:grpSpPr>
          <p:sp>
            <p:nvSpPr>
              <p:cNvPr id="70" name="矩形 69"/>
              <p:cNvSpPr/>
              <p:nvPr>
                <p:custDataLst>
                  <p:tags r:id="rId24"/>
                </p:custDataLst>
              </p:nvPr>
            </p:nvSpPr>
            <p:spPr>
              <a:xfrm>
                <a:off x="4736749" y="982824"/>
                <a:ext cx="2827147" cy="467266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系统总结</a:t>
                </a:r>
                <a:endPara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1" name="平行四边形 70"/>
              <p:cNvSpPr/>
              <p:nvPr>
                <p:custDataLst>
                  <p:tags r:id="rId25"/>
                </p:custDataLst>
              </p:nvPr>
            </p:nvSpPr>
            <p:spPr>
              <a:xfrm>
                <a:off x="4315150" y="953426"/>
                <a:ext cx="4522479" cy="539794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pic>
        <p:nvPicPr>
          <p:cNvPr id="2" name="图片 1"/>
          <p:cNvPicPr/>
          <p:nvPr/>
        </p:nvPicPr>
        <p:blipFill>
          <a:blip r:embed="rId26"/>
          <a:srcRect r="56830" b="-9917"/>
          <a:stretch>
            <a:fillRect/>
          </a:stretch>
        </p:blipFill>
        <p:spPr>
          <a:xfrm>
            <a:off x="9799320" y="198529"/>
            <a:ext cx="2101215" cy="591185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27"/>
            </p:custDataLst>
          </p:nvPr>
        </p:nvGrpSpPr>
        <p:grpSpPr>
          <a:xfrm>
            <a:off x="3394979" y="5916449"/>
            <a:ext cx="6127515" cy="645160"/>
            <a:chOff x="2074052" y="1242090"/>
            <a:chExt cx="6127515" cy="645160"/>
          </a:xfrm>
        </p:grpSpPr>
        <p:grpSp>
          <p:nvGrpSpPr>
            <p:cNvPr id="5" name="组合 4"/>
            <p:cNvGrpSpPr/>
            <p:nvPr/>
          </p:nvGrpSpPr>
          <p:grpSpPr>
            <a:xfrm>
              <a:off x="2074052" y="1242090"/>
              <a:ext cx="1399299" cy="645160"/>
              <a:chOff x="2215144" y="947195"/>
              <a:chExt cx="1312014" cy="912421"/>
            </a:xfrm>
          </p:grpSpPr>
          <p:sp>
            <p:nvSpPr>
              <p:cNvPr id="6" name="平行四边形 5"/>
              <p:cNvSpPr/>
              <p:nvPr>
                <p:custDataLst>
                  <p:tags r:id="rId28"/>
                </p:custDataLst>
              </p:nvPr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003F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Impact" panose="020B0806030902050204" pitchFamily="34" charset="0"/>
                </a:endParaRPr>
              </a:p>
            </p:txBody>
          </p:sp>
          <p:sp>
            <p:nvSpPr>
              <p:cNvPr id="7" name="文本框 9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460359" y="947195"/>
                <a:ext cx="1066799" cy="91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06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269522" y="1298845"/>
              <a:ext cx="4932045" cy="577215"/>
              <a:chOff x="4315150" y="953426"/>
              <a:chExt cx="4522479" cy="539940"/>
            </a:xfrm>
          </p:grpSpPr>
          <p:sp>
            <p:nvSpPr>
              <p:cNvPr id="12" name="矩形 11"/>
              <p:cNvSpPr/>
              <p:nvPr>
                <p:custDataLst>
                  <p:tags r:id="rId30"/>
                </p:custDataLst>
              </p:nvPr>
            </p:nvSpPr>
            <p:spPr>
              <a:xfrm>
                <a:off x="4736712" y="982532"/>
                <a:ext cx="3845301" cy="466879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审查机制与设计结论</a:t>
                </a:r>
                <a:endPara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平行四边形 12"/>
              <p:cNvSpPr/>
              <p:nvPr>
                <p:custDataLst>
                  <p:tags r:id="rId31"/>
                </p:custDataLst>
              </p:nvPr>
            </p:nvSpPr>
            <p:spPr>
              <a:xfrm>
                <a:off x="4315150" y="953426"/>
                <a:ext cx="4522479" cy="539940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3629660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3062605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一、系统架构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GB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-8878" y="796273"/>
            <a:ext cx="7114540" cy="1651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0">
            <a:off x="868045" y="1068705"/>
            <a:ext cx="10398760" cy="1604010"/>
            <a:chOff x="756" y="1683"/>
            <a:chExt cx="17854" cy="2526"/>
          </a:xfrm>
        </p:grpSpPr>
        <p:grpSp>
          <p:nvGrpSpPr>
            <p:cNvPr id="9" name="组合 8"/>
            <p:cNvGrpSpPr/>
            <p:nvPr/>
          </p:nvGrpSpPr>
          <p:grpSpPr>
            <a:xfrm rot="0">
              <a:off x="1135" y="2011"/>
              <a:ext cx="17097" cy="1872"/>
              <a:chOff x="1860" y="5146"/>
              <a:chExt cx="8489" cy="2464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860" y="5146"/>
                <a:ext cx="3501" cy="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双向无线传输需求</a:t>
                </a:r>
                <a:endParaRPr lang="zh-CN" altLang="en-US" sz="2000" b="1" dirty="0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860" y="6847"/>
                <a:ext cx="8489" cy="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8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视频信息上行：</a:t>
                </a:r>
                <a:r>
                  <a:rPr lang="zh-CN" altLang="en-US" sz="180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捕获机器人周边环境视频并回传，供远程控制端进行状态识别与判断。</a:t>
                </a:r>
                <a:endParaRPr lang="zh-CN" altLang="en-US" sz="20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1860" y="6054"/>
                <a:ext cx="7996" cy="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控制命令下行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：机器人端需实时、准确接收远程端的无线控制指令。</a:t>
                </a:r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12" name="圆角矩形 11"/>
            <p:cNvSpPr/>
            <p:nvPr/>
          </p:nvSpPr>
          <p:spPr>
            <a:xfrm>
              <a:off x="756" y="1683"/>
              <a:ext cx="17854" cy="2527"/>
            </a:xfrm>
            <a:prstGeom prst="roundRect">
              <a:avLst>
                <a:gd name="adj" fmla="val 11335"/>
              </a:avLst>
            </a:prstGeom>
            <a:noFill/>
            <a:ln w="190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868045" y="2802890"/>
            <a:ext cx="10456545" cy="1943735"/>
            <a:chOff x="756" y="4293"/>
            <a:chExt cx="17955" cy="3061"/>
          </a:xfrm>
        </p:grpSpPr>
        <p:sp>
          <p:nvSpPr>
            <p:cNvPr id="13" name="圆角矩形 12"/>
            <p:cNvSpPr/>
            <p:nvPr/>
          </p:nvSpPr>
          <p:spPr>
            <a:xfrm>
              <a:off x="756" y="4293"/>
              <a:ext cx="17854" cy="3061"/>
            </a:xfrm>
            <a:prstGeom prst="roundRect">
              <a:avLst>
                <a:gd name="adj" fmla="val 11335"/>
              </a:avLst>
            </a:prstGeom>
            <a:noFill/>
            <a:ln w="190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 rot="0">
              <a:off x="1135" y="4591"/>
              <a:ext cx="17576" cy="2466"/>
              <a:chOff x="1335" y="5202"/>
              <a:chExt cx="17576" cy="2466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1335" y="5202"/>
                <a:ext cx="705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各链路核心技术要求</a:t>
                </a:r>
                <a:endParaRPr lang="zh-CN" altLang="en-US" sz="2000" b="1" dirty="0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335" y="6487"/>
                <a:ext cx="1709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8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视频链路：</a:t>
                </a:r>
                <a:r>
                  <a:rPr lang="zh-CN" altLang="en-US" sz="180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要求带宽足够（3M 以上），支持 H.264 等压缩格式的高效传输。</a:t>
                </a:r>
                <a:endParaRPr lang="zh-CN" altLang="en-US" sz="1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335" y="5886"/>
                <a:ext cx="1610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电机控制：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追求高可靠性与强实时性，确保电机转速、方向的精准响应。</a:t>
                </a:r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1335" y="7088"/>
                <a:ext cx="1757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射频链路：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满足甚高频（40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MHz-200MHz）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多频带工作，确保 10公里以上 的长距离与稳定通信。</a:t>
                </a:r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</p:grpSp>
      <p:sp>
        <p:nvSpPr>
          <p:cNvPr id="14" name="圆角矩形 13"/>
          <p:cNvSpPr/>
          <p:nvPr/>
        </p:nvSpPr>
        <p:spPr>
          <a:xfrm>
            <a:off x="868045" y="4876165"/>
            <a:ext cx="10398760" cy="1539240"/>
          </a:xfrm>
          <a:prstGeom prst="roundRect">
            <a:avLst>
              <a:gd name="adj" fmla="val 11335"/>
            </a:avLst>
          </a:prstGeom>
          <a:solidFill>
            <a:srgbClr val="003C82">
              <a:alpha val="90000"/>
            </a:srgb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 rot="0">
            <a:off x="1089025" y="5046980"/>
            <a:ext cx="9958070" cy="1198880"/>
            <a:chOff x="1135" y="8122"/>
            <a:chExt cx="17097" cy="1888"/>
          </a:xfrm>
          <a:solidFill>
            <a:srgbClr val="2B5393">
              <a:alpha val="83000"/>
            </a:srgbClr>
          </a:solidFill>
        </p:grpSpPr>
        <p:sp>
          <p:nvSpPr>
            <p:cNvPr id="20" name="文本框 19"/>
            <p:cNvSpPr txBox="1"/>
            <p:nvPr/>
          </p:nvSpPr>
          <p:spPr>
            <a:xfrm>
              <a:off x="1135" y="8122"/>
              <a:ext cx="4192" cy="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设计实施方案调整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135" y="9479"/>
              <a:ext cx="17097" cy="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说明：</a:t>
              </a:r>
              <a:r>
                <a:rPr lang="zh-CN" altLang="en-US" sz="16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本次设计专注于系统级仿真验证，不使用 Vitis 进行硬件开发。</a:t>
              </a:r>
              <a:endParaRPr lang="zh-CN" altLang="en-US" sz="16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135" y="8824"/>
              <a:ext cx="16104" cy="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仿真环境：</a:t>
              </a:r>
              <a:r>
                <a:rPr lang="zh-CN" altLang="en-US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本设计采用 </a:t>
              </a:r>
              <a:r>
                <a:rPr lang="en-US" altLang="zh-CN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MATLAB R2025a / Simulink </a:t>
              </a:r>
              <a:r>
                <a:rPr lang="zh-CN" altLang="en-US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进行全系统的数字化仿真与实现。</a:t>
              </a:r>
              <a:endPara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3832225" y="289560"/>
            <a:ext cx="2788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设计目标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63595" y="353060"/>
            <a:ext cx="3320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总体系统架构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"/>
            </p:custDataLst>
          </p:nvPr>
        </p:nvSpPr>
        <p:spPr>
          <a:xfrm>
            <a:off x="4433570" y="5162550"/>
            <a:ext cx="2790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命令下行流：</a:t>
            </a:r>
            <a:endParaRPr lang="zh-CN" altLang="en-US" b="1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3"/>
            </p:custDataLst>
          </p:nvPr>
        </p:nvSpPr>
        <p:spPr>
          <a:xfrm>
            <a:off x="4433570" y="5466715"/>
            <a:ext cx="32448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VHF天线接收→射频模块解调→DSP主控核心→电机驱动器执行。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47370" y="5162550"/>
            <a:ext cx="279082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数据上行流：</a:t>
            </a:r>
            <a:endParaRPr lang="zh-CN" altLang="en-US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"/>
            </p:custDataLst>
          </p:nvPr>
        </p:nvSpPr>
        <p:spPr>
          <a:xfrm>
            <a:off x="547370" y="5466715"/>
            <a:ext cx="3244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摄像头捕获环境视频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H.264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编码器压缩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射频模块调制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→VHF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天线回传。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6"/>
            </p:custDataLst>
          </p:nvPr>
        </p:nvSpPr>
        <p:spPr>
          <a:xfrm>
            <a:off x="8319770" y="5162550"/>
            <a:ext cx="2790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核心控制中枢：</a:t>
            </a:r>
            <a:endParaRPr lang="zh-CN" altLang="en-US" b="1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7"/>
            </p:custDataLst>
          </p:nvPr>
        </p:nvSpPr>
        <p:spPr>
          <a:xfrm>
            <a:off x="8319770" y="5466715"/>
            <a:ext cx="3244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TMS320F28379D DSP 负责电机闭环算法，并作为全局总线枢纽调度数据和监测状态。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9" name="平行四边形 48"/>
          <p:cNvSpPr/>
          <p:nvPr/>
        </p:nvSpPr>
        <p:spPr>
          <a:xfrm>
            <a:off x="-266065" y="162560"/>
            <a:ext cx="3629660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0990" y="162560"/>
            <a:ext cx="3062605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一、系统架构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GB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-8878" y="796273"/>
            <a:ext cx="7114540" cy="1651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59" name="圆角矩形 58"/>
          <p:cNvSpPr/>
          <p:nvPr/>
        </p:nvSpPr>
        <p:spPr>
          <a:xfrm>
            <a:off x="2834640" y="1139190"/>
            <a:ext cx="9141460" cy="3839845"/>
          </a:xfrm>
          <a:prstGeom prst="roundRect">
            <a:avLst/>
          </a:prstGeom>
          <a:noFill/>
          <a:ln w="19050">
            <a:solidFill>
              <a:srgbClr val="013E7F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3234055" y="1491615"/>
            <a:ext cx="13671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4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机器人端</a:t>
            </a:r>
            <a:endParaRPr lang="zh-CN" altLang="en-US" sz="1400" b="1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84175" y="1491615"/>
            <a:ext cx="1050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4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远程端</a:t>
            </a:r>
            <a:endParaRPr lang="zh-CN" altLang="en-US" sz="1400" b="1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2" name="对象 61"/>
          <p:cNvGraphicFramePr>
            <a:graphicFrameLocks noChangeAspect="1"/>
          </p:cNvGraphicFramePr>
          <p:nvPr/>
        </p:nvGraphicFramePr>
        <p:xfrm>
          <a:off x="254000" y="1285875"/>
          <a:ext cx="11711260" cy="36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8" imgW="10103485" imgH="3124835" progId="Visio.Drawing.15">
                  <p:embed/>
                </p:oleObj>
              </mc:Choice>
              <mc:Fallback>
                <p:oleObj name="" r:id="rId8" imgW="10103485" imgH="3124835" progId="Visio.Drawing.15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4000" y="1285875"/>
                        <a:ext cx="11711260" cy="360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3363595" y="294640"/>
            <a:ext cx="3512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分层系统总模型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3629660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3062605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一、系统架构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GB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96273"/>
            <a:ext cx="7114540" cy="1651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904230" y="974090"/>
          <a:ext cx="5966417" cy="56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2" imgW="5203190" imgH="4930775" progId="Visio.Drawing.15">
                  <p:embed/>
                </p:oleObj>
              </mc:Choice>
              <mc:Fallback>
                <p:oleObj name="" r:id="rId2" imgW="5203190" imgH="4930775" progId="Visio.Drawing.15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04230" y="974090"/>
                        <a:ext cx="5966417" cy="56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554355" y="1666240"/>
            <a:ext cx="57023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驱动控制时域闭环：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目标转速经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DSP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算法、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PWM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驱动电机，其状态（转速/电流）经传感采集向回反馈至算法，形成闭环。</a:t>
            </a:r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4355" y="2774315"/>
            <a:ext cx="57023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视频通信数据开环：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视频缓冲区输出的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H.264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视频流单向向左注入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VHF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射频信道，模拟远距离无线传输。</a:t>
            </a:r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48005" y="3882390"/>
            <a:ext cx="57023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全局性能多维监测：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电机状态、视频链路、射频信道三路指标向中间汇总至全局监测器，判定系统自洽性。</a:t>
            </a:r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8805" y="4990465"/>
            <a:ext cx="57023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沙盘模型复杂度：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全分层结构包含 83 个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block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和 74 条信号线，完全由底层参数脚本驱动仿真。</a:t>
            </a:r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503488" y="1122680"/>
            <a:ext cx="7379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基于驱动与调度需求的 </a:t>
            </a:r>
            <a:r>
              <a:rPr lang="en-US" altLang="zh-CN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TI TMS320F28379D </a:t>
            </a: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选型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5674360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二、驱动控制模块设计与仿真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81033"/>
            <a:ext cx="6237605" cy="3175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grpSp>
        <p:nvGrpSpPr>
          <p:cNvPr id="29" name="组合 28"/>
          <p:cNvGrpSpPr/>
          <p:nvPr>
            <p:custDataLst>
              <p:tags r:id="rId2"/>
            </p:custDataLst>
          </p:nvPr>
        </p:nvGrpSpPr>
        <p:grpSpPr>
          <a:xfrm rot="0">
            <a:off x="1578610" y="2034540"/>
            <a:ext cx="3343275" cy="4035425"/>
            <a:chOff x="2676" y="3204"/>
            <a:chExt cx="5265" cy="6355"/>
          </a:xfrm>
        </p:grpSpPr>
        <p:sp>
          <p:nvSpPr>
            <p:cNvPr id="5" name="圆角矩形 4"/>
            <p:cNvSpPr/>
            <p:nvPr/>
          </p:nvSpPr>
          <p:spPr>
            <a:xfrm>
              <a:off x="2676" y="3204"/>
              <a:ext cx="5265" cy="6355"/>
            </a:xfrm>
            <a:prstGeom prst="roundRect">
              <a:avLst>
                <a:gd name="adj" fmla="val 6552"/>
              </a:avLst>
            </a:prstGeom>
            <a:noFill/>
            <a:ln w="19050">
              <a:solidFill>
                <a:srgbClr val="013E7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>
              <p:custDataLst>
                <p:tags r:id="rId3"/>
              </p:custDataLst>
            </p:nvPr>
          </p:nvGrpSpPr>
          <p:grpSpPr>
            <a:xfrm rot="0">
              <a:off x="3183" y="3649"/>
              <a:ext cx="4252" cy="5305"/>
              <a:chOff x="3554" y="3254"/>
              <a:chExt cx="4252" cy="5305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4222" y="3254"/>
                <a:ext cx="291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/>
                <a:r>
                  <a:rPr lang="zh-CN" altLang="en-US" sz="1600" b="1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动模块核心需求</a:t>
                </a:r>
                <a:endParaRPr lang="zh-CN" altLang="en-US" sz="16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7" name="文本框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554" y="4296"/>
                <a:ext cx="4252" cy="510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noAutofit/>
              </a:bodyPr>
              <a:p>
                <a:pPr marL="0" inden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电机高实时性与可靠性控制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554" y="5547"/>
                <a:ext cx="4252" cy="510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noAutofit/>
              </a:bodyPr>
              <a:p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速度与位置信号精确反馈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560" y="6798"/>
                <a:ext cx="4240" cy="510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noAutofit/>
              </a:bodyPr>
              <a:p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传感器电流与母线电压采集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568" y="8049"/>
                <a:ext cx="4224" cy="510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noAutofit/>
              </a:bodyPr>
              <a:p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视频与射频模块的控制交互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</p:txBody>
          </p:sp>
        </p:grpSp>
      </p:grpSp>
      <p:grpSp>
        <p:nvGrpSpPr>
          <p:cNvPr id="30" name="组合 29"/>
          <p:cNvGrpSpPr/>
          <p:nvPr>
            <p:custDataLst>
              <p:tags r:id="rId8"/>
            </p:custDataLst>
          </p:nvPr>
        </p:nvGrpSpPr>
        <p:grpSpPr>
          <a:xfrm rot="0">
            <a:off x="5053330" y="2035175"/>
            <a:ext cx="5792470" cy="4034790"/>
            <a:chOff x="8148" y="3205"/>
            <a:chExt cx="9122" cy="6354"/>
          </a:xfrm>
        </p:grpSpPr>
        <p:sp>
          <p:nvSpPr>
            <p:cNvPr id="16" name="圆角矩形 15"/>
            <p:cNvSpPr/>
            <p:nvPr/>
          </p:nvSpPr>
          <p:spPr>
            <a:xfrm>
              <a:off x="8148" y="3205"/>
              <a:ext cx="9123" cy="6354"/>
            </a:xfrm>
            <a:prstGeom prst="roundRect">
              <a:avLst>
                <a:gd name="adj" fmla="val 4310"/>
              </a:avLst>
            </a:prstGeom>
            <a:noFill/>
            <a:ln w="19050">
              <a:solidFill>
                <a:srgbClr val="013E7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>
              <p:custDataLst>
                <p:tags r:id="rId9"/>
              </p:custDataLst>
            </p:nvPr>
          </p:nvGrpSpPr>
          <p:grpSpPr>
            <a:xfrm rot="0">
              <a:off x="8487" y="3649"/>
              <a:ext cx="8447" cy="5327"/>
              <a:chOff x="8644" y="3255"/>
              <a:chExt cx="8447" cy="5327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10999" y="3255"/>
                <a:ext cx="373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>
                  <a:buClrTx/>
                  <a:buSzTx/>
                  <a:buFontTx/>
                </a:pPr>
                <a:r>
                  <a:rPr lang="zh-CN" altLang="en-US" sz="1600" b="1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对应外设与选型考量</a:t>
                </a:r>
                <a:endParaRPr lang="zh-CN" altLang="en-US" sz="16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644" y="4309"/>
                <a:ext cx="8447" cy="531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spAutoFit/>
              </a:bodyPr>
              <a:p>
                <a:pPr marL="0" algn="l">
                  <a:buClrTx/>
                  <a:buSzTx/>
                  <a:buFontTx/>
                </a:pPr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双核C28x+CLA协处理器，满足精密闭环算法超低延迟需求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644" y="5573"/>
                <a:ext cx="8447" cy="531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spAutoFit/>
              </a:bodyPr>
              <a:p>
                <a:pPr marL="0" algn="l">
                  <a:buClrTx/>
                  <a:buSzTx/>
                  <a:buFontTx/>
                </a:pPr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内置高精度eQEP模块，直接读取电机正交编码器数据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644" y="6837"/>
                <a:ext cx="8447" cy="481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noAutofit/>
              </a:bodyPr>
              <a:p>
                <a:pPr marL="0" algn="l">
                  <a:buClrTx/>
                  <a:buSzTx/>
                  <a:buFontTx/>
                </a:pPr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内置多路高速ADC，支持多路同步采样与硬件级保护机制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644" y="8051"/>
                <a:ext cx="8447" cy="531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rtlCol="0">
                <a:spAutoFit/>
              </a:bodyPr>
              <a:p>
                <a:pPr marL="0" algn="l">
                  <a:buClrTx/>
                  <a:buSzTx/>
                  <a:buFontTx/>
                </a:pPr>
                <a:r>
                  <a:rPr lang="zh-CN" altLang="en-US" sz="1600" b="1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丰富的SPI/SCI(UART)/CAN工业总线接口</a:t>
                </a:r>
                <a:endParaRPr lang="zh-CN" altLang="en-US" sz="1600" b="1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5674360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二、驱动控制模块设计与仿真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81033"/>
            <a:ext cx="6237605" cy="3175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11" name="文本框 10"/>
          <p:cNvSpPr txBox="1"/>
          <p:nvPr/>
        </p:nvSpPr>
        <p:spPr>
          <a:xfrm>
            <a:off x="3820160" y="1122680"/>
            <a:ext cx="4551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驱动器控制模块硬件电路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397496" y="1810385"/>
          <a:ext cx="7397007" cy="19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2" imgW="5380355" imgH="1458595" progId="Visio.Drawing.15">
                  <p:embed/>
                </p:oleObj>
              </mc:Choice>
              <mc:Fallback>
                <p:oleObj name="" r:id="rId2" imgW="5380355" imgH="1458595" progId="Visio.Drawing.15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97496" y="1810385"/>
                        <a:ext cx="7397007" cy="19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132840" y="3729355"/>
            <a:ext cx="10169525" cy="293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双线异构解耦：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拆分高速前向图像数据链、纵向电机控制闭环链两条独立通路，高带宽视频图像数据流由专用硬件通路独立处理，完全不占用 DSP 内核算力，保障电机控制链路实时性，电机驱动为带转速、电流双反馈的完整闭环控制系统</a:t>
            </a:r>
            <a:endParaRPr lang="zh-CN" altLang="en-US" sz="1600" b="1">
              <a:solidFill>
                <a:srgbClr val="013E7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纵向实时闭环驱动链路：前向功率执行通路：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DSP 输出 ePWM/HRPWM 高精度调制脉冲，PWM 信号送入隔离驱动模块做电平隔离与死区保护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MOSFET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功率桥输出功率电流驱动电机运转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纵向实时闭环驱动链路：反向反馈采集通路：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电机运行过程中同步产生两类反馈信号，独立回送至 DSP，构成完整闭环调节与硬件保护机制：QEP 编码器转速 / 位置数字反馈＋ADC 电枢电流 / 母线电压模拟采样反馈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" name="对象 21"/>
          <p:cNvGraphicFramePr/>
          <p:nvPr/>
        </p:nvGraphicFramePr>
        <p:xfrm>
          <a:off x="1141730" y="1974850"/>
          <a:ext cx="11650980" cy="592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1" imgW="9540875" imgH="4613275" progId="Visio.Drawing.15">
                  <p:embed/>
                </p:oleObj>
              </mc:Choice>
              <mc:Fallback>
                <p:oleObj name="" r:id="rId1" imgW="9540875" imgH="4613275" progId="Visio.Drawing.15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1730" y="1974850"/>
                        <a:ext cx="11650980" cy="5923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75735" y="1122680"/>
            <a:ext cx="4240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电机控制算法架构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5674360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二、驱动控制模块设计与仿真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81033"/>
            <a:ext cx="6237605" cy="3175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24" name="文本框 23"/>
          <p:cNvSpPr txBox="1"/>
          <p:nvPr/>
        </p:nvSpPr>
        <p:spPr>
          <a:xfrm>
            <a:off x="159385" y="7256780"/>
            <a:ext cx="3419475" cy="16789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 </a:t>
            </a:r>
            <a:r>
              <a:rPr lang="en-US" altLang="zh-CN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</a:t>
            </a: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采用标准的并行 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结构。利用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域离散算子实现积分与差分运算，确保算法在 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环境下的执行效率与动态响应速度。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52265" y="7256780"/>
            <a:ext cx="3419475" cy="167894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抗饱和限幅环节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在控制量输出前设置 Saturation 模块，模拟物理母线电压极限，防止积分饱和导致的系统超调与硬件过载。</a:t>
            </a:r>
            <a:endParaRPr lang="zh-CN" altLang="en-US" sz="160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45145" y="7256780"/>
            <a:ext cx="3419475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故障瞬间切断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通过底部故障逻辑链路，当过流信号触发时，末端乘法器实现“乘零”操作，实现纳秒级的软件停机保护。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700020" y="1555115"/>
          <a:ext cx="8496447" cy="43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1" imgW="9540875" imgH="4613275" progId="Visio.Drawing.15">
                  <p:embed/>
                </p:oleObj>
              </mc:Choice>
              <mc:Fallback>
                <p:oleObj name="" r:id="rId1" imgW="9540875" imgH="4613275" progId="Visio.Drawing.15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020" y="1555115"/>
                        <a:ext cx="8496447" cy="43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75735" y="1122680"/>
            <a:ext cx="4240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电机控制算法架构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5674360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二、驱动控制模块设计与仿真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81033"/>
            <a:ext cx="6237605" cy="3175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2" name="文本框 1"/>
          <p:cNvSpPr txBox="1"/>
          <p:nvPr/>
        </p:nvSpPr>
        <p:spPr>
          <a:xfrm>
            <a:off x="455295" y="4875530"/>
            <a:ext cx="3419475" cy="16789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 </a:t>
            </a:r>
            <a:r>
              <a:rPr lang="en-US" altLang="zh-CN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</a:t>
            </a: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采用标准的并行 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结构。利用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域离散算子实现积分与差分运算，确保算法在 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环境下的执行效率与动态响应速度。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8175" y="4875530"/>
            <a:ext cx="3419475" cy="167894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抗饱和限幅环节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在控制量输出前设置 Saturation 模块，模拟物理母线电压极限，防止积分饱和导致的系统超调与硬件过载。</a:t>
            </a:r>
            <a:endParaRPr lang="zh-CN" altLang="en-US" sz="160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41055" y="4875530"/>
            <a:ext cx="3419475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故障瞬间切断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通过底部故障逻辑链路，当过流信号触发时，末端乘法器实现“乘零”操作，实现纳秒级的软件停机保护。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3975735" y="1122680"/>
            <a:ext cx="4240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电机控制算法架构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5674360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二、驱动控制模块设计与仿真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81033"/>
            <a:ext cx="6237605" cy="3175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2" name="文本框 1"/>
          <p:cNvSpPr txBox="1"/>
          <p:nvPr/>
        </p:nvSpPr>
        <p:spPr>
          <a:xfrm>
            <a:off x="455295" y="1541780"/>
            <a:ext cx="11031855" cy="7937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 </a:t>
            </a:r>
            <a:r>
              <a:rPr lang="en-US" altLang="zh-CN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</a:t>
            </a:r>
            <a:r>
              <a:rPr lang="zh-CN" altLang="en-US" sz="2000" b="1" i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lang="zh-CN" altLang="en-US" sz="2000" b="1" i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采用标准的并行 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结构。利用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域离散算子实现积分与差分运算，确保算法在 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环境下的执行效率与动态响应速度。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5295" y="3455035"/>
            <a:ext cx="104984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4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参数定义：</a:t>
            </a:r>
            <a:r>
              <a:rPr lang="en-US" altLang="zh-CN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u(k)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为第</a:t>
            </a:r>
            <a:r>
              <a:rPr lang="en-US" altLang="zh-CN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次采样电压指令，</a:t>
            </a:r>
            <a:r>
              <a:rPr lang="en-US" altLang="zh-CN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e(k)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为转速误差，</a:t>
            </a:r>
            <a:r>
              <a:rPr lang="en-US" altLang="zh-CN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Kp/Ki/Kd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PID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整定参数，</a:t>
            </a:r>
            <a:r>
              <a:rPr lang="en-US" altLang="zh-CN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Ts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为控制器固定采样周期。</a:t>
            </a:r>
            <a:endParaRPr lang="zh-CN" altLang="en-US" sz="160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5295" y="4076700"/>
            <a:ext cx="227266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0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简化电机仿真模型</a:t>
            </a:r>
            <a:endParaRPr lang="zh-CN" altLang="en-US" sz="2000" b="1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5295" y="5770245"/>
            <a:ext cx="1120267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</a:t>
            </a:r>
            <a:r>
              <a:rPr lang="zh-CN" altLang="en-US" sz="160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R/L为电枢阻抗参数，J/b表征机械惯性与阻尼特性，Kt/Ke为机电能量转换常数，TL代表外部负载转矩扰动。</a:t>
            </a:r>
            <a:endParaRPr lang="zh-CN" altLang="en-US" sz="160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13660" y="2606040"/>
          <a:ext cx="6964680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3429000" imgH="254000" progId="Equation.KSEE3">
                  <p:embed/>
                </p:oleObj>
              </mc:Choice>
              <mc:Fallback>
                <p:oleObj name="" r:id="rId2" imgW="3429000" imgH="2540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13660" y="2606040"/>
                        <a:ext cx="6964680" cy="515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2817178" y="4800600"/>
            <a:ext cx="6557645" cy="720090"/>
            <a:chOff x="3996" y="6636"/>
            <a:chExt cx="10327" cy="1134"/>
          </a:xfrm>
        </p:grpSpPr>
        <p:graphicFrame>
          <p:nvGraphicFramePr>
            <p:cNvPr id="24" name="对象 2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3996" y="6636"/>
            <a:ext cx="3731" cy="1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" r:id="rId4" imgW="1696085" imgH="514985" progId="Equation.KSEE3">
                    <p:embed/>
                  </p:oleObj>
                </mc:Choice>
                <mc:Fallback>
                  <p:oleObj name="" r:id="rId4" imgW="1696085" imgH="514985" progId="Equation.KSEE3">
                    <p:embed/>
                    <p:pic>
                      <p:nvPicPr>
                        <p:cNvPr id="0" name="图片 204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96" y="6636"/>
                          <a:ext cx="3731" cy="11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007" y="6636"/>
            <a:ext cx="4316" cy="1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6" imgW="1498600" imgH="393700" progId="Equation.KSEE3">
                    <p:embed/>
                  </p:oleObj>
                </mc:Choice>
                <mc:Fallback>
                  <p:oleObj name="" r:id="rId6" imgW="1498600" imgH="393700" progId="Equation.KSEE3">
                    <p:embed/>
                    <p:pic>
                      <p:nvPicPr>
                        <p:cNvPr id="0" name="图片 204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007" y="6636"/>
                          <a:ext cx="4316" cy="11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3814128" y="1122680"/>
            <a:ext cx="4563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驱动控制模块仿真结果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3" name="平行四边形 12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0990" y="162560"/>
            <a:ext cx="5674360" cy="641350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二、驱动控制模块设计与仿真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8878" y="781033"/>
            <a:ext cx="6237605" cy="3175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2" name="图片 1" descr="motor_respon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0" y="1782445"/>
            <a:ext cx="5661660" cy="47980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3725" y="3261995"/>
            <a:ext cx="5077460" cy="2195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核心动态指标：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90% 上升时间为0.173 s，超调量为9.55%。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稳态控制精度：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正向稳态误差仅为 0.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95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rpm，能完美、平稳地跟踪约-600 rpm 的反转换向指令。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波形分析结论：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换向瞬间电流和 PWM 占空比响应灵敏且能自适应收敛，证明闭环算法具备高可靠性与实时性。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3440" y="2492375"/>
            <a:ext cx="4558030" cy="659130"/>
            <a:chOff x="1421" y="3013"/>
            <a:chExt cx="7178" cy="1038"/>
          </a:xfrm>
        </p:grpSpPr>
        <p:sp>
          <p:nvSpPr>
            <p:cNvPr id="22" name="圆角矩形 21"/>
            <p:cNvSpPr/>
            <p:nvPr/>
          </p:nvSpPr>
          <p:spPr>
            <a:xfrm>
              <a:off x="1421" y="3013"/>
              <a:ext cx="7179" cy="1038"/>
            </a:xfrm>
            <a:prstGeom prst="roundRect">
              <a:avLst/>
            </a:prstGeom>
            <a:solidFill>
              <a:srgbClr val="013E7F"/>
            </a:solidFill>
            <a:ln>
              <a:solidFill>
                <a:srgbClr val="013E7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71" y="3118"/>
              <a:ext cx="6680" cy="8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边界声明：</a:t>
              </a:r>
              <a:r>
                <a:rPr lang="zh-CN" altLang="en-US" sz="1400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在输入电压 24V、存在理想负载扰动的 Simulink 理想环境中</a:t>
              </a:r>
              <a:endPara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endParaRPr lang="zh-CN" altLang="en-US" sz="1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endParaRPr lang="zh-CN" altLang="en-US" sz="1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66229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GB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视频采集模块设计与仿真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185913" y="1884680"/>
          <a:ext cx="7820174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293995" imgH="1235710" progId="Visio.Drawing.15">
                  <p:embed/>
                </p:oleObj>
              </mc:Choice>
              <mc:Fallback>
                <p:oleObj name="" r:id="rId2" imgW="5293995" imgH="1235710" progId="Visio.Drawing.15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85913" y="1884680"/>
                        <a:ext cx="7820174" cy="180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802578" y="1122680"/>
            <a:ext cx="4240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视频采集模块硬件架构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64920" y="3920490"/>
            <a:ext cx="9662160" cy="2672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双线异构解耦：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系统打破传统单一处理瓶颈，解耦为“高速前向数据链”与“纵向总线控制链”，避免高带宽图像数据挤占实时控制资源。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前向高吞吐硬压缩：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CMOS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摄像头 采集的原始图像流经 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MIPI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接收 与 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SDRAM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帧缓存，直接注入外置硬件编码器完成 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H.264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高倍率压缩。全过程不穿过 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DSP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内核，实现主控计算免疫。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纵向轻量化配置调度：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主控 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DSP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仅通过 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SPI/SCI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全局总线对前端芯片进行参数初始化，并对后端 射频发送缓存 的水位线和码率实施低频监测，扮演“全场调度员”角色。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66229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GB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视频采集模块设计与仿真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68663" y="1122680"/>
            <a:ext cx="5654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en-US" altLang="zh-CN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DSP </a:t>
            </a: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的主控配置与数据流调度职能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21180" y="4276090"/>
            <a:ext cx="4269740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阶段一：初始化配置（低频/单次）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基于 TI TMS320F28379D 原生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SPI/SCI 工业总线。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下发分辨率、帧率及编码参数控制字。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85913" y="1884680"/>
          <a:ext cx="7820174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" imgW="5293995" imgH="1235710" progId="Visio.Drawing.15">
                  <p:embed/>
                </p:oleObj>
              </mc:Choice>
              <mc:Fallback>
                <p:oleObj name="" r:id="rId2" imgW="5293995" imgH="1235710" progId="Visio.Drawing.15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85913" y="1884680"/>
                        <a:ext cx="7820174" cy="180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529705" y="4276090"/>
            <a:ext cx="4064000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阶段二：运行态监控（实时/轻量）</a:t>
            </a:r>
            <a:endParaRPr lang="zh-CN" altLang="en-US" b="1">
              <a:solidFill>
                <a:srgbClr val="013E7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以低频中断形式轮询。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实时监测射频发送缓冲区水位线与码率状态。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94990" y="5756910"/>
            <a:ext cx="600202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效益：算力开销降至最低，预留复杂信道下的动态反馈调度接口。</a:t>
            </a:r>
            <a:endParaRPr lang="zh-CN" altLang="en-US" b="1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66229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GB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视频采集模块设计与仿真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68663" y="1122680"/>
            <a:ext cx="5654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视频链路吞吐与缓存水位仿真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video_buff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290" y="1673860"/>
            <a:ext cx="5810885" cy="4942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5655" y="2901315"/>
            <a:ext cx="4855845" cy="282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平均数据吞吐：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平均视频载荷为 </a:t>
            </a:r>
            <a:r>
              <a:rPr lang="zh-CN" altLang="en-US" sz="14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36.24 Mbps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（折算约 4.53 MB/s），完美超出任务书“3 M以上”的要求。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流畅度指标：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全仿真周期内</a:t>
            </a:r>
            <a:r>
              <a:rPr lang="zh-CN" altLang="en-US" sz="14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丢帧数为 0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，画面传输连续。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缓存安全性：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最大缓存占用为</a:t>
            </a:r>
            <a:r>
              <a:rPr lang="zh-CN" altLang="en-US" sz="14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4.89 MB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，无持续堆积、溢出或下溢趋势，证明缓冲区大小设计合理。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44563" y="2202815"/>
            <a:ext cx="4558030" cy="659130"/>
            <a:chOff x="1421" y="3013"/>
            <a:chExt cx="7178" cy="1038"/>
          </a:xfrm>
        </p:grpSpPr>
        <p:sp>
          <p:nvSpPr>
            <p:cNvPr id="11" name="圆角矩形 10"/>
            <p:cNvSpPr/>
            <p:nvPr/>
          </p:nvSpPr>
          <p:spPr>
            <a:xfrm>
              <a:off x="1421" y="3013"/>
              <a:ext cx="7179" cy="1038"/>
            </a:xfrm>
            <a:prstGeom prst="roundRect">
              <a:avLst/>
            </a:prstGeom>
            <a:solidFill>
              <a:srgbClr val="013E7F"/>
            </a:solidFill>
            <a:ln>
              <a:solidFill>
                <a:srgbClr val="013E7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71" y="3118"/>
              <a:ext cx="6680" cy="8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边界声明：</a:t>
              </a:r>
              <a:r>
                <a:rPr lang="zh-CN" altLang="en-US" sz="1400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在标准 H.264 压缩流、3M 带宽基线约束的仿真环境下</a:t>
              </a:r>
              <a:endParaRPr lang="zh-CN" altLang="en-US" sz="1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endParaRPr lang="zh-CN" altLang="en-US" sz="1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66229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GB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射频集成模块设计与仿真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68980" y="1122680"/>
            <a:ext cx="5654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甚高频无线收发模块电路组成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87475" y="4218940"/>
            <a:ext cx="9557385" cy="171450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模块硬件组成：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模块包含 高速DAC/ADC、频率合成器、滤波器组、低噪声放大器（LNA）及功率放大器（PA）。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阻抗天线匹配：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末端设计天线匹配电路，优化甚高频段（40MHz-200MHz）发射效率，确保能量最大化辐射。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模块解耦设计：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该模块作为独立高频硬件，不占用 DSP 芯片资源进行射频设计。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15" name="对象 14"/>
          <p:cNvGraphicFramePr/>
          <p:nvPr/>
        </p:nvGraphicFramePr>
        <p:xfrm>
          <a:off x="1141095" y="1982470"/>
          <a:ext cx="10472420" cy="222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2" imgW="8328025" imgH="1790700" progId="Visio.Drawing.15">
                  <p:embed/>
                </p:oleObj>
              </mc:Choice>
              <mc:Fallback>
                <p:oleObj name="" r:id="rId2" imgW="8328025" imgH="1790700" progId="Visio.Drawing.15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1095" y="1982470"/>
                        <a:ext cx="10472420" cy="2227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66229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GB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射频集成模块设计与仿真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68663" y="1122680"/>
            <a:ext cx="5654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多频带工作与多业务信道规划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0720" y="2294890"/>
            <a:ext cx="5492115" cy="313626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时分多频带工作：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天线工作在 40MHz-200MHz VHF 频段，发送视频与接收指令占用不同的独立频带，避免自扰。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控制链路策略：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控制信号数据量小，分配窄带，</a:t>
            </a:r>
            <a:r>
              <a:rPr lang="zh-CN" altLang="en-US" sz="1400" b="1" i="0">
                <a:solidFill>
                  <a:srgbClr val="013E7F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优先保证低噪、抗干扰与绝对的可靠性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视频链路策略：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视频数据载荷大，分配宽带，</a:t>
            </a:r>
            <a:r>
              <a:rPr lang="zh-CN" altLang="en-US" sz="1400" b="1" i="0">
                <a:solidFill>
                  <a:srgbClr val="013E7F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优先保证高吞吐量与大带宽传输</a:t>
            </a:r>
            <a:r>
              <a:rPr lang="zh-CN" altLang="en-US" sz="140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431280" y="4426585"/>
            <a:ext cx="5318125" cy="1540193"/>
            <a:chOff x="10168" y="5840"/>
            <a:chExt cx="8375" cy="2426"/>
          </a:xfrm>
        </p:grpSpPr>
        <p:grpSp>
          <p:nvGrpSpPr>
            <p:cNvPr id="33" name="组合 32"/>
            <p:cNvGrpSpPr/>
            <p:nvPr/>
          </p:nvGrpSpPr>
          <p:grpSpPr>
            <a:xfrm>
              <a:off x="10168" y="6749"/>
              <a:ext cx="8375" cy="1517"/>
              <a:chOff x="10168" y="6749"/>
              <a:chExt cx="8375" cy="1517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10168" y="6749"/>
                <a:ext cx="8375" cy="523"/>
                <a:chOff x="10168" y="6359"/>
                <a:chExt cx="8375" cy="523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>
                  <a:off x="10168" y="6359"/>
                  <a:ext cx="8375" cy="523"/>
                  <a:chOff x="10168" y="6358"/>
                  <a:chExt cx="8375" cy="523"/>
                </a:xfrm>
              </p:grpSpPr>
              <p:sp>
                <p:nvSpPr>
                  <p:cNvPr id="22" name="圆角矩形 21"/>
                  <p:cNvSpPr/>
                  <p:nvPr/>
                </p:nvSpPr>
                <p:spPr>
                  <a:xfrm>
                    <a:off x="10168" y="6358"/>
                    <a:ext cx="8375" cy="523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>
                    <a:solidFill>
                      <a:srgbClr val="013E7F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圆角矩形 23"/>
                  <p:cNvSpPr/>
                  <p:nvPr/>
                </p:nvSpPr>
                <p:spPr>
                  <a:xfrm>
                    <a:off x="10227" y="6417"/>
                    <a:ext cx="763" cy="40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75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6" name="文本框 25"/>
                <p:cNvSpPr txBox="1"/>
                <p:nvPr/>
              </p:nvSpPr>
              <p:spPr>
                <a:xfrm>
                  <a:off x="13008" y="6378"/>
                  <a:ext cx="2694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dist"/>
                  <a:r>
                    <a:rPr lang="en-US" altLang="zh-CN" sz="1400" b="1">
                      <a:solidFill>
                        <a:srgbClr val="013E7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25</a:t>
                  </a:r>
                  <a:r>
                    <a:rPr lang="en-US" altLang="zh-CN" sz="1400" b="1">
                      <a:solidFill>
                        <a:srgbClr val="013E7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kHz </a:t>
                  </a:r>
                  <a:r>
                    <a:rPr lang="zh-CN" altLang="en-US" sz="1400" b="1">
                      <a:solidFill>
                        <a:srgbClr val="013E7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控制链路</a:t>
                  </a:r>
                  <a:endParaRPr lang="zh-CN" altLang="en-US" sz="1400" b="1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32" name="组合 31"/>
              <p:cNvGrpSpPr/>
              <p:nvPr/>
            </p:nvGrpSpPr>
            <p:grpSpPr>
              <a:xfrm>
                <a:off x="10168" y="7743"/>
                <a:ext cx="8375" cy="523"/>
                <a:chOff x="10168" y="7743"/>
                <a:chExt cx="8375" cy="523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10168" y="7743"/>
                  <a:ext cx="8375" cy="523"/>
                  <a:chOff x="10168" y="7752"/>
                  <a:chExt cx="8375" cy="523"/>
                </a:xfrm>
              </p:grpSpPr>
              <p:sp>
                <p:nvSpPr>
                  <p:cNvPr id="23" name="圆角矩形 22"/>
                  <p:cNvSpPr/>
                  <p:nvPr/>
                </p:nvSpPr>
                <p:spPr>
                  <a:xfrm>
                    <a:off x="10168" y="7752"/>
                    <a:ext cx="8375" cy="523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>
                    <a:solidFill>
                      <a:srgbClr val="013E7F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圆角矩形 24"/>
                  <p:cNvSpPr/>
                  <p:nvPr/>
                </p:nvSpPr>
                <p:spPr>
                  <a:xfrm>
                    <a:off x="10227" y="7811"/>
                    <a:ext cx="7910" cy="40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13E7F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7" name="文本框 26"/>
                <p:cNvSpPr txBox="1"/>
                <p:nvPr/>
              </p:nvSpPr>
              <p:spPr>
                <a:xfrm>
                  <a:off x="12952" y="7762"/>
                  <a:ext cx="2806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dist">
                    <a:buClrTx/>
                    <a:buSzTx/>
                    <a:buFontTx/>
                  </a:pPr>
                  <a:r>
                    <a:rPr lang="en-US" altLang="zh-CN" sz="1400" b="1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 6MHz 视频链路</a:t>
                  </a:r>
                  <a:endParaRPr lang="en-US" altLang="zh-CN" sz="14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</p:grpSp>
        <p:sp>
          <p:nvSpPr>
            <p:cNvPr id="30" name="文本框 29"/>
            <p:cNvSpPr txBox="1"/>
            <p:nvPr/>
          </p:nvSpPr>
          <p:spPr>
            <a:xfrm>
              <a:off x="10168" y="5840"/>
              <a:ext cx="45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rgbClr val="013E7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业务带宽配比 (吞吐量规模)</a:t>
              </a:r>
              <a:endPara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351270" y="2178050"/>
            <a:ext cx="5613400" cy="1854835"/>
            <a:chOff x="10002" y="2528"/>
            <a:chExt cx="8840" cy="2921"/>
          </a:xfrm>
        </p:grpSpPr>
        <p:grpSp>
          <p:nvGrpSpPr>
            <p:cNvPr id="21" name="组合 20"/>
            <p:cNvGrpSpPr/>
            <p:nvPr/>
          </p:nvGrpSpPr>
          <p:grpSpPr>
            <a:xfrm>
              <a:off x="10010" y="3430"/>
              <a:ext cx="8832" cy="2019"/>
              <a:chOff x="9852" y="6085"/>
              <a:chExt cx="8832" cy="2019"/>
            </a:xfrm>
          </p:grpSpPr>
          <p:cxnSp>
            <p:nvCxnSpPr>
              <p:cNvPr id="2" name="直接连接符 1"/>
              <p:cNvCxnSpPr/>
              <p:nvPr/>
            </p:nvCxnSpPr>
            <p:spPr>
              <a:xfrm>
                <a:off x="10118" y="7544"/>
                <a:ext cx="8110" cy="15"/>
              </a:xfrm>
              <a:prstGeom prst="line">
                <a:avLst/>
              </a:prstGeom>
              <a:solidFill>
                <a:srgbClr val="013E7F"/>
              </a:solidFill>
              <a:ln>
                <a:solidFill>
                  <a:srgbClr val="013E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" name="椭圆 5"/>
              <p:cNvSpPr/>
              <p:nvPr/>
            </p:nvSpPr>
            <p:spPr>
              <a:xfrm>
                <a:off x="10250" y="7495"/>
                <a:ext cx="113" cy="113"/>
              </a:xfrm>
              <a:prstGeom prst="ellipse">
                <a:avLst/>
              </a:prstGeom>
              <a:solidFill>
                <a:srgbClr val="013E7F"/>
              </a:solidFill>
              <a:ln>
                <a:solidFill>
                  <a:srgbClr val="013E7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7825" y="7495"/>
                <a:ext cx="113" cy="113"/>
              </a:xfrm>
              <a:prstGeom prst="ellipse">
                <a:avLst/>
              </a:prstGeom>
              <a:solidFill>
                <a:srgbClr val="013E7F"/>
              </a:solidFill>
              <a:ln>
                <a:solidFill>
                  <a:srgbClr val="013E7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4795" y="7495"/>
                <a:ext cx="113" cy="113"/>
              </a:xfrm>
              <a:prstGeom prst="ellipse">
                <a:avLst/>
              </a:prstGeom>
              <a:solidFill>
                <a:srgbClr val="013E7F"/>
              </a:solidFill>
              <a:ln>
                <a:solidFill>
                  <a:srgbClr val="013E7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9852" y="7670"/>
                <a:ext cx="1257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>
                    <a:solidFill>
                      <a:srgbClr val="013E7F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40MHz</a:t>
                </a:r>
                <a:endParaRPr lang="en-US" altLang="zh-CN" sz="1200" b="1">
                  <a:solidFill>
                    <a:srgbClr val="013E7F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4397" y="7670"/>
                <a:ext cx="1257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>
                    <a:solidFill>
                      <a:srgbClr val="013E7F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120MHz</a:t>
                </a:r>
                <a:endParaRPr lang="en-US" altLang="zh-CN" sz="1200" b="1">
                  <a:solidFill>
                    <a:srgbClr val="013E7F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7427" y="7670"/>
                <a:ext cx="1257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>
                    <a:solidFill>
                      <a:srgbClr val="013E7F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200MHz</a:t>
                </a:r>
                <a:endParaRPr lang="en-US" altLang="zh-CN" sz="1200" b="1">
                  <a:solidFill>
                    <a:srgbClr val="013E7F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11228" y="6085"/>
                <a:ext cx="1715" cy="124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控制信道</a:t>
                </a:r>
                <a:endPara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" name="圆角矩形 19"/>
              <p:cNvSpPr/>
              <p:nvPr/>
            </p:nvSpPr>
            <p:spPr>
              <a:xfrm>
                <a:off x="14057" y="6085"/>
                <a:ext cx="3767" cy="1240"/>
              </a:xfrm>
              <a:prstGeom prst="roundRect">
                <a:avLst/>
              </a:prstGeom>
              <a:solidFill>
                <a:srgbClr val="013E7F"/>
              </a:solidFill>
              <a:ln>
                <a:solidFill>
                  <a:srgbClr val="013E7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400" b="1">
                    <a:latin typeface="微软雅黑" panose="020B0503020204020204" charset="-122"/>
                    <a:ea typeface="微软雅黑" panose="020B0503020204020204" charset="-122"/>
                  </a:rPr>
                  <a:t>视频载荷信道</a:t>
                </a:r>
                <a:endParaRPr lang="zh-CN" altLang="en-US" sz="14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>
              <a:off x="10002" y="2528"/>
              <a:ext cx="548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1600" b="1">
                  <a:solidFill>
                    <a:srgbClr val="013E7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频域位置规划 (40MHz - 200MHz)</a:t>
              </a:r>
              <a:endParaRPr lang="zh-CN" altLang="en-US" sz="1600" b="1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636206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66229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GB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射频集成模块设计与仿真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68663" y="1122680"/>
            <a:ext cx="5654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10公里远距离无线链路</a:t>
            </a: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性能分析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785" y="2707640"/>
            <a:ext cx="5080000" cy="3136265"/>
          </a:xfrm>
          <a:prstGeom prst="rect">
            <a:avLst/>
          </a:prstGeom>
        </p:spPr>
        <p:txBody>
          <a:bodyPr>
            <a:spAutoFit/>
          </a:bodyPr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下行控制信道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：最低信噪比高达 </a:t>
            </a:r>
            <a:r>
              <a:rPr lang="zh-CN" altLang="en-US" sz="14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61.56 dB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，确保控制命令在远距离下实现零误差接收。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上行视频信道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：最低信噪比稳定在 </a:t>
            </a:r>
            <a:r>
              <a:rPr lang="zh-CN" altLang="en-US" sz="14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44.76 dB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，完全保障了 36Mbps 视频流的解调门限要求。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013E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误码分析结论</a:t>
            </a:r>
            <a:r>
              <a:rPr lang="zh-CN" altLang="en-US" sz="1400" b="0" i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：误码率（BER）仿真曲线收敛优异，证明该射频方案在 10km 传输边界内理论自洽。</a:t>
            </a:r>
            <a:endParaRPr lang="zh-CN" altLang="en-US" sz="14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9" name="图片 8" descr="rf_link_b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50" y="2404745"/>
            <a:ext cx="5824855" cy="304038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080770" y="2033270"/>
            <a:ext cx="4558030" cy="659130"/>
            <a:chOff x="1421" y="3013"/>
            <a:chExt cx="7178" cy="1038"/>
          </a:xfrm>
        </p:grpSpPr>
        <p:sp>
          <p:nvSpPr>
            <p:cNvPr id="22" name="圆角矩形 21"/>
            <p:cNvSpPr/>
            <p:nvPr/>
          </p:nvSpPr>
          <p:spPr>
            <a:xfrm>
              <a:off x="1421" y="3013"/>
              <a:ext cx="7179" cy="1038"/>
            </a:xfrm>
            <a:prstGeom prst="roundRect">
              <a:avLst/>
            </a:prstGeom>
            <a:solidFill>
              <a:srgbClr val="013E7F"/>
            </a:solidFill>
            <a:ln>
              <a:solidFill>
                <a:srgbClr val="013E7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71" y="3118"/>
              <a:ext cx="6680" cy="8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边界声明：</a:t>
              </a:r>
              <a:r>
                <a:rPr lang="zh-CN" altLang="en-US" sz="1400">
                  <a:solidFill>
                    <a:schemeClr val="bg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在自由空间损耗模型、10 km 理论通信距离的无线链路预算下</a:t>
              </a:r>
              <a:endParaRPr lang="zh-CN" altLang="en-US" sz="1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endParaRPr lang="zh-CN" altLang="en-US" sz="1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4141470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3661410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五、系统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-8878" y="795003"/>
            <a:ext cx="4023995" cy="17780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2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/>
        </p:nvGraphicFramePr>
        <p:xfrm>
          <a:off x="1391285" y="1254125"/>
          <a:ext cx="9453880" cy="5055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266065" y="162560"/>
            <a:ext cx="5703570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990" y="162560"/>
            <a:ext cx="5137150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六、审查机制与设计结论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8878" y="812783"/>
            <a:ext cx="6003925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pic>
        <p:nvPicPr>
          <p:cNvPr id="7" name="图片 6"/>
          <p:cNvPicPr/>
          <p:nvPr/>
        </p:nvPicPr>
        <p:blipFill>
          <a:blip r:embed="rId1"/>
          <a:srcRect r="56830" b="-9917"/>
          <a:stretch>
            <a:fillRect/>
          </a:stretch>
        </p:blipFill>
        <p:spPr>
          <a:xfrm>
            <a:off x="9875520" y="114074"/>
            <a:ext cx="2101215" cy="591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03805" y="1122680"/>
            <a:ext cx="6368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buClrTx/>
              <a:buSzTx/>
              <a:buFontTx/>
            </a:pP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基于 </a:t>
            </a:r>
            <a:r>
              <a:rPr lang="en-US" altLang="zh-CN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Agentic Toolkit </a:t>
            </a:r>
            <a:r>
              <a:rPr lang="zh-CN" altLang="en-US" sz="2400" b="1" dirty="0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</a:rPr>
              <a:t>的模型规范性审查</a:t>
            </a:r>
            <a:endParaRPr lang="zh-CN" altLang="en-US" sz="2400" b="1" dirty="0">
              <a:solidFill>
                <a:srgbClr val="013E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462405" y="1737360"/>
            <a:ext cx="9267190" cy="4621530"/>
            <a:chOff x="2428" y="2736"/>
            <a:chExt cx="14594" cy="7278"/>
          </a:xfrm>
        </p:grpSpPr>
        <p:grpSp>
          <p:nvGrpSpPr>
            <p:cNvPr id="14" name="组合 13"/>
            <p:cNvGrpSpPr/>
            <p:nvPr/>
          </p:nvGrpSpPr>
          <p:grpSpPr>
            <a:xfrm>
              <a:off x="2428" y="2736"/>
              <a:ext cx="14594" cy="2236"/>
              <a:chOff x="2428" y="2736"/>
              <a:chExt cx="14594" cy="2236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2428" y="2736"/>
                <a:ext cx="14595" cy="22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 algn="l">
                  <a:lnSpc>
                    <a:spcPct val="19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b="1" i="0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Simulink Agentic Toolkit (SATK) </a:t>
                </a:r>
                <a:r>
                  <a:rPr lang="zh-CN" altLang="en-US" b="1" i="0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规范审查</a:t>
                </a:r>
                <a:endParaRPr lang="zh-CN" altLang="en-US" b="1" i="0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457200" algn="l">
                  <a:lnSpc>
                    <a:spcPct val="160000"/>
                  </a:lnSpc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0" i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采用官方 SATK 工具链对全系统 83 个 Block 进行规范性扫描。审查内容涵盖：跨模块接口匹配性、信号采样周期一致性及离散时域行为等效性。审查结果显示接口错误率为 0%。</a:t>
                </a:r>
                <a:endParaRPr lang="en-US" altLang="zh-CN" sz="1600" b="0" i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2428" y="3666"/>
                <a:ext cx="14595" cy="1306"/>
              </a:xfrm>
              <a:prstGeom prst="roundRect">
                <a:avLst/>
              </a:prstGeom>
              <a:noFill/>
              <a:ln w="19050"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428" y="5253"/>
              <a:ext cx="14594" cy="2236"/>
              <a:chOff x="2428" y="5253"/>
              <a:chExt cx="14594" cy="223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2428" y="5253"/>
                <a:ext cx="14595" cy="223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 algn="l">
                  <a:lnSpc>
                    <a:spcPct val="19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800" b="1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跨域工程自洽性校验</a:t>
                </a:r>
                <a:endParaRPr lang="en-US" altLang="zh-CN" sz="18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457200" algn="l">
                  <a:lnSpc>
                    <a:spcPct val="160000"/>
                  </a:lnSpc>
                  <a:buClrTx/>
                  <a:buSzTx/>
                  <a:buFont typeface="Arial" panose="020B0604020202020204" pitchFamily="34" charset="0"/>
                </a:pP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 shareMATLABSession 建立多维监测机制，验证了“电机负载扰动”与“射频信道衰落”极端工况下的数据闭环。结论证明：电机闭环稳定性与视频传输流畅度在规定物理边界内完全自洽。</a:t>
                </a:r>
                <a:endPara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2428" y="6199"/>
                <a:ext cx="14595" cy="1290"/>
              </a:xfrm>
              <a:prstGeom prst="roundRect">
                <a:avLst/>
              </a:prstGeom>
              <a:noFill/>
              <a:ln w="19050"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428" y="7770"/>
              <a:ext cx="14594" cy="2244"/>
              <a:chOff x="2428" y="7770"/>
              <a:chExt cx="14594" cy="2244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428" y="7770"/>
                <a:ext cx="14595" cy="2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 algn="l">
                  <a:lnSpc>
                    <a:spcPct val="19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800" b="1">
                    <a:solidFill>
                      <a:srgbClr val="013E7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数字化设计闭环</a:t>
                </a:r>
                <a:endParaRPr lang="en-US" altLang="zh-CN" sz="18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457200" algn="l">
                  <a:lnSpc>
                    <a:spcPct val="160000"/>
                  </a:lnSpc>
                  <a:buClrTx/>
                  <a:buSzTx/>
                  <a:buFont typeface="Arial" panose="020B0604020202020204" pitchFamily="34" charset="0"/>
                </a:pP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本设计完成了从“任务需求”到“数字化建模”再到“量化仿真”的完整闭环。模型逻辑严密，各项参数配置符合 TI C2000 系列 DSP 实际硬件特性，具备向硬件开发阶段迁移的理论基础。</a:t>
                </a:r>
                <a:endPara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2428" y="8724"/>
                <a:ext cx="14595" cy="1290"/>
              </a:xfrm>
              <a:prstGeom prst="roundRect">
                <a:avLst/>
              </a:prstGeom>
              <a:noFill/>
              <a:ln w="19050"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平行四边形 3"/>
          <p:cNvSpPr/>
          <p:nvPr/>
        </p:nvSpPr>
        <p:spPr>
          <a:xfrm>
            <a:off x="-266065" y="162560"/>
            <a:ext cx="338899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-8878" y="804528"/>
            <a:ext cx="3303270" cy="8255"/>
          </a:xfrm>
          <a:prstGeom prst="line">
            <a:avLst/>
          </a:prstGeom>
          <a:noFill/>
          <a:ln w="44450" cap="flat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7" name="矩形 6"/>
          <p:cNvSpPr/>
          <p:nvPr/>
        </p:nvSpPr>
        <p:spPr>
          <a:xfrm>
            <a:off x="300990" y="162560"/>
            <a:ext cx="2032635" cy="560705"/>
          </a:xfrm>
          <a:prstGeom prst="rect">
            <a:avLst/>
          </a:prstGeom>
          <a:noFill/>
          <a:ln w="1587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成员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分工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2029535" y="1833799"/>
            <a:ext cx="7851710" cy="0"/>
          </a:xfrm>
          <a:prstGeom prst="line">
            <a:avLst/>
          </a:prstGeom>
          <a:ln w="6350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任意多边形: 形状 36"/>
          <p:cNvSpPr/>
          <p:nvPr>
            <p:custDataLst>
              <p:tags r:id="rId2"/>
            </p:custDataLst>
          </p:nvPr>
        </p:nvSpPr>
        <p:spPr>
          <a:xfrm>
            <a:off x="1476548" y="1527766"/>
            <a:ext cx="353297" cy="304852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任意多边形: 形状 38"/>
          <p:cNvSpPr/>
          <p:nvPr>
            <p:custDataLst>
              <p:tags r:id="rId3"/>
            </p:custDataLst>
          </p:nvPr>
        </p:nvSpPr>
        <p:spPr>
          <a:xfrm>
            <a:off x="1642110" y="1527175"/>
            <a:ext cx="1128395" cy="949325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90000">
                <a:srgbClr val="013E7F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任意多边形: 形状 36"/>
          <p:cNvSpPr/>
          <p:nvPr>
            <p:custDataLst>
              <p:tags r:id="rId4"/>
            </p:custDataLst>
          </p:nvPr>
        </p:nvSpPr>
        <p:spPr>
          <a:xfrm>
            <a:off x="3462812" y="1527766"/>
            <a:ext cx="353297" cy="304852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任意多边形: 形状 38"/>
          <p:cNvSpPr/>
          <p:nvPr>
            <p:custDataLst>
              <p:tags r:id="rId5"/>
            </p:custDataLst>
          </p:nvPr>
        </p:nvSpPr>
        <p:spPr>
          <a:xfrm>
            <a:off x="3628390" y="1527175"/>
            <a:ext cx="1128395" cy="949325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90000">
                <a:srgbClr val="013E7F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任意多边形: 形状 36"/>
          <p:cNvSpPr/>
          <p:nvPr>
            <p:custDataLst>
              <p:tags r:id="rId6"/>
            </p:custDataLst>
          </p:nvPr>
        </p:nvSpPr>
        <p:spPr>
          <a:xfrm>
            <a:off x="5449076" y="1527766"/>
            <a:ext cx="353297" cy="304852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任意多边形: 形状 38"/>
          <p:cNvSpPr/>
          <p:nvPr>
            <p:custDataLst>
              <p:tags r:id="rId7"/>
            </p:custDataLst>
          </p:nvPr>
        </p:nvSpPr>
        <p:spPr>
          <a:xfrm>
            <a:off x="5614670" y="1527175"/>
            <a:ext cx="1128395" cy="949325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80000">
                <a:srgbClr val="013E7F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任意多边形: 形状 36"/>
          <p:cNvSpPr/>
          <p:nvPr>
            <p:custDataLst>
              <p:tags r:id="rId8"/>
            </p:custDataLst>
          </p:nvPr>
        </p:nvSpPr>
        <p:spPr>
          <a:xfrm>
            <a:off x="7435340" y="1527766"/>
            <a:ext cx="353297" cy="304852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任意多边形: 形状 38"/>
          <p:cNvSpPr/>
          <p:nvPr>
            <p:custDataLst>
              <p:tags r:id="rId9"/>
            </p:custDataLst>
          </p:nvPr>
        </p:nvSpPr>
        <p:spPr>
          <a:xfrm>
            <a:off x="7600950" y="1527175"/>
            <a:ext cx="1128395" cy="949325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90000">
                <a:srgbClr val="013E7F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任意多边形: 形状 36"/>
          <p:cNvSpPr/>
          <p:nvPr>
            <p:custDataLst>
              <p:tags r:id="rId10"/>
            </p:custDataLst>
          </p:nvPr>
        </p:nvSpPr>
        <p:spPr>
          <a:xfrm>
            <a:off x="9421604" y="1527766"/>
            <a:ext cx="353297" cy="304852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任意多边形: 形状 38"/>
          <p:cNvSpPr/>
          <p:nvPr>
            <p:custDataLst>
              <p:tags r:id="rId11"/>
            </p:custDataLst>
          </p:nvPr>
        </p:nvSpPr>
        <p:spPr>
          <a:xfrm>
            <a:off x="9587230" y="1527175"/>
            <a:ext cx="1128395" cy="949325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90000">
                <a:srgbClr val="013E7F"/>
              </a:gs>
            </a:gsLst>
            <a:lin ang="8100000" scaled="0"/>
            <a:tileRect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平行四边形 16"/>
          <p:cNvSpPr/>
          <p:nvPr/>
        </p:nvSpPr>
        <p:spPr>
          <a:xfrm>
            <a:off x="-266065" y="6296025"/>
            <a:ext cx="12732385" cy="561975"/>
          </a:xfrm>
          <a:prstGeom prst="parallelogram">
            <a:avLst>
              <a:gd name="adj" fmla="val 48207"/>
            </a:avLst>
          </a:prstGeom>
          <a:solidFill>
            <a:srgbClr val="013E80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6" name="组合 35"/>
          <p:cNvGrpSpPr/>
          <p:nvPr>
            <p:custDataLst>
              <p:tags r:id="rId12"/>
            </p:custDataLst>
          </p:nvPr>
        </p:nvGrpSpPr>
        <p:grpSpPr>
          <a:xfrm>
            <a:off x="3357880" y="2430145"/>
            <a:ext cx="1713865" cy="3058795"/>
            <a:chOff x="4947" y="3827"/>
            <a:chExt cx="2699" cy="4817"/>
          </a:xfrm>
        </p:grpSpPr>
        <p:sp>
          <p:nvSpPr>
            <p:cNvPr id="18" name="矩形 17"/>
            <p:cNvSpPr/>
            <p:nvPr>
              <p:custDataLst>
                <p:tags r:id="rId13"/>
              </p:custDataLst>
            </p:nvPr>
          </p:nvSpPr>
          <p:spPr>
            <a:xfrm>
              <a:off x="4948" y="4736"/>
              <a:ext cx="2698" cy="18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费雅轩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4"/>
              </p:custDataLst>
            </p:nvPr>
          </p:nvSpPr>
          <p:spPr>
            <a:xfrm>
              <a:off x="4947" y="3827"/>
              <a:ext cx="2698" cy="88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20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制作</a:t>
              </a:r>
              <a:endParaRPr lang="zh-CN" altLang="en-US" sz="20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948" y="6486"/>
              <a:ext cx="2698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PPT制作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辅助组长进行内容统筹规划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5"/>
            </p:custDataLst>
          </p:nvPr>
        </p:nvGrpSpPr>
        <p:grpSpPr>
          <a:xfrm>
            <a:off x="1359535" y="2430145"/>
            <a:ext cx="1713230" cy="3058795"/>
            <a:chOff x="1756" y="3827"/>
            <a:chExt cx="2698" cy="4817"/>
          </a:xfrm>
        </p:grpSpPr>
        <p:sp>
          <p:nvSpPr>
            <p:cNvPr id="9" name="矩形 8"/>
            <p:cNvSpPr/>
            <p:nvPr>
              <p:custDataLst>
                <p:tags r:id="rId16"/>
              </p:custDataLst>
            </p:nvPr>
          </p:nvSpPr>
          <p:spPr>
            <a:xfrm>
              <a:off x="1756" y="4736"/>
              <a:ext cx="2698" cy="18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陈可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7"/>
              </p:custDataLst>
            </p:nvPr>
          </p:nvSpPr>
          <p:spPr>
            <a:xfrm>
              <a:off x="1756" y="3827"/>
              <a:ext cx="2698" cy="88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组长</a:t>
              </a:r>
              <a:endParaRPr lang="zh-CN" altLang="en-US" sz="20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756" y="6486"/>
              <a:ext cx="2698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负责整体方案统筹、系统总体架构设计、仿真流程协调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8"/>
            </p:custDataLst>
          </p:nvPr>
        </p:nvGrpSpPr>
        <p:grpSpPr>
          <a:xfrm>
            <a:off x="9353550" y="2400300"/>
            <a:ext cx="1713230" cy="3088640"/>
            <a:chOff x="14510" y="3780"/>
            <a:chExt cx="2698" cy="4864"/>
          </a:xfrm>
        </p:grpSpPr>
        <p:sp>
          <p:nvSpPr>
            <p:cNvPr id="20" name="矩形 19"/>
            <p:cNvSpPr/>
            <p:nvPr>
              <p:custDataLst>
                <p:tags r:id="rId19"/>
              </p:custDataLst>
            </p:nvPr>
          </p:nvSpPr>
          <p:spPr>
            <a:xfrm>
              <a:off x="14510" y="4736"/>
              <a:ext cx="2698" cy="18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李汶骏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肖翀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郑乐阳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0"/>
              </p:custDataLst>
            </p:nvPr>
          </p:nvSpPr>
          <p:spPr>
            <a:xfrm>
              <a:off x="14510" y="3780"/>
              <a:ext cx="2698" cy="88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射频集成组</a:t>
              </a:r>
              <a:endParaRPr lang="zh-CN" altLang="en-US" sz="20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4510" y="6486"/>
              <a:ext cx="2698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负责射频链路方案设计、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通信距离与传输性能仿真</a:t>
              </a:r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21"/>
            </p:custDataLst>
          </p:nvPr>
        </p:nvGrpSpPr>
        <p:grpSpPr>
          <a:xfrm>
            <a:off x="7355205" y="2430145"/>
            <a:ext cx="1713230" cy="3058795"/>
            <a:chOff x="11337" y="3827"/>
            <a:chExt cx="2698" cy="4817"/>
          </a:xfrm>
        </p:grpSpPr>
        <p:sp>
          <p:nvSpPr>
            <p:cNvPr id="22" name="矩形 21"/>
            <p:cNvSpPr/>
            <p:nvPr>
              <p:custDataLst>
                <p:tags r:id="rId22"/>
              </p:custDataLst>
            </p:nvPr>
          </p:nvSpPr>
          <p:spPr>
            <a:xfrm>
              <a:off x="11337" y="4736"/>
              <a:ext cx="2698" cy="18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周汉臣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朱煜程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朱云天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3"/>
              </p:custDataLst>
            </p:nvPr>
          </p:nvSpPr>
          <p:spPr>
            <a:xfrm>
              <a:off x="11337" y="3827"/>
              <a:ext cx="2698" cy="88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视频采集组</a:t>
              </a:r>
              <a:endParaRPr lang="zh-CN" altLang="en-US" sz="20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1337" y="6486"/>
              <a:ext cx="2698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负责视频采集编码方案设计、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链路性能仿真与结果分析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4"/>
            </p:custDataLst>
          </p:nvPr>
        </p:nvGrpSpPr>
        <p:grpSpPr>
          <a:xfrm>
            <a:off x="5356860" y="2429947"/>
            <a:ext cx="1713331" cy="3059628"/>
            <a:chOff x="8223" y="3827"/>
            <a:chExt cx="2698" cy="4818"/>
          </a:xfrm>
        </p:grpSpPr>
        <p:sp>
          <p:nvSpPr>
            <p:cNvPr id="21" name="矩形 20"/>
            <p:cNvSpPr/>
            <p:nvPr>
              <p:custDataLst>
                <p:tags r:id="rId25"/>
              </p:custDataLst>
            </p:nvPr>
          </p:nvSpPr>
          <p:spPr>
            <a:xfrm>
              <a:off x="8223" y="3827"/>
              <a:ext cx="2698" cy="88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13E7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驱动控制组</a:t>
              </a:r>
              <a:endParaRPr lang="zh-CN" altLang="en-US" sz="2000" b="1">
                <a:solidFill>
                  <a:srgbClr val="013E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6"/>
              </p:custDataLst>
            </p:nvPr>
          </p:nvSpPr>
          <p:spPr>
            <a:xfrm>
              <a:off x="8223" y="4736"/>
              <a:ext cx="2698" cy="18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刘星华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叶海锋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朱怡圆</a:t>
              </a:r>
              <a:endPara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223" y="6486"/>
              <a:ext cx="2698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kern="0" dirty="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负责电机闭环控制算法设计、系统响应仿真与结果分析。</a:t>
              </a:r>
              <a:endPara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552700"/>
            <a:ext cx="12192000" cy="2088978"/>
            <a:chOff x="0" y="4020"/>
            <a:chExt cx="19200" cy="3290"/>
          </a:xfrm>
        </p:grpSpPr>
        <p:sp>
          <p:nvSpPr>
            <p:cNvPr id="7" name="矩形 6"/>
            <p:cNvSpPr/>
            <p:nvPr/>
          </p:nvSpPr>
          <p:spPr>
            <a:xfrm>
              <a:off x="0" y="4020"/>
              <a:ext cx="19200" cy="3290"/>
            </a:xfrm>
            <a:prstGeom prst="rect">
              <a:avLst/>
            </a:prstGeom>
            <a:solidFill>
              <a:srgbClr val="013E8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3846" y="4793"/>
              <a:ext cx="11869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敬请批评指正！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24473" y="184309"/>
            <a:ext cx="4867275" cy="53816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5037B38-C9A9-42AC-A12C-DCA38F34D235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3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4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5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6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7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8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9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0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1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2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3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4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5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6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7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8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19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0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1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2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3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4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5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6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7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8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29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30.xml><?xml version="1.0" encoding="utf-8"?>
<p:tagLst xmlns:p="http://schemas.openxmlformats.org/presentationml/2006/main">
  <p:tag name="KSO_WM_DIAGRAM_VIRTUALLY_FRAME" val="{&quot;height&quot;:431.59220472440956,&quot;left&quot;:267.3211811023622,&quot;top&quot;:85.06992125984247,&quot;width&quot;:425.35755905511826}"/>
</p:tagLst>
</file>

<file path=ppt/tags/tag31.xml><?xml version="1.0" encoding="utf-8"?>
<p:tagLst xmlns:p="http://schemas.openxmlformats.org/presentationml/2006/main">
  <p:tag name="KSO_WM_DIAGRAM_VIRTUALLY_FRAME" val="{&quot;height&quot;:793.45,&quot;left&quot;:43.1,&quot;top&quot;:96.45,&quot;width&quot;:1013.3}"/>
</p:tagLst>
</file>

<file path=ppt/tags/tag32.xml><?xml version="1.0" encoding="utf-8"?>
<p:tagLst xmlns:p="http://schemas.openxmlformats.org/presentationml/2006/main">
  <p:tag name="KSO_WM_DIAGRAM_VIRTUALLY_FRAME" val="{&quot;height&quot;:793.45,&quot;left&quot;:43.1,&quot;top&quot;:96.45,&quot;width&quot;:1013.3}"/>
</p:tagLst>
</file>

<file path=ppt/tags/tag33.xml><?xml version="1.0" encoding="utf-8"?>
<p:tagLst xmlns:p="http://schemas.openxmlformats.org/presentationml/2006/main">
  <p:tag name="KSO_WM_DIAGRAM_VIRTUALLY_FRAME" val="{&quot;height&quot;:793.45,&quot;left&quot;:43.1,&quot;top&quot;:96.45,&quot;width&quot;:1013.3}"/>
</p:tagLst>
</file>

<file path=ppt/tags/tag34.xml><?xml version="1.0" encoding="utf-8"?>
<p:tagLst xmlns:p="http://schemas.openxmlformats.org/presentationml/2006/main">
  <p:tag name="KSO_WM_DIAGRAM_VIRTUALLY_FRAME" val="{&quot;height&quot;:793.45,&quot;left&quot;:43.1,&quot;top&quot;:96.45,&quot;width&quot;:1013.3}"/>
</p:tagLst>
</file>

<file path=ppt/tags/tag35.xml><?xml version="1.0" encoding="utf-8"?>
<p:tagLst xmlns:p="http://schemas.openxmlformats.org/presentationml/2006/main">
  <p:tag name="KSO_WM_DIAGRAM_VIRTUALLY_FRAME" val="{&quot;height&quot;:793.45,&quot;left&quot;:43.1,&quot;top&quot;:96.45,&quot;width&quot;:1013.3}"/>
</p:tagLst>
</file>

<file path=ppt/tags/tag36.xml><?xml version="1.0" encoding="utf-8"?>
<p:tagLst xmlns:p="http://schemas.openxmlformats.org/presentationml/2006/main">
  <p:tag name="KSO_WM_DIAGRAM_VIRTUALLY_FRAME" val="{&quot;height&quot;:793.45,&quot;left&quot;:43.1,&quot;top&quot;:96.45,&quot;width&quot;:1013.3}"/>
</p:tagLst>
</file>

<file path=ppt/tags/tag37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38.xml><?xml version="1.0" encoding="utf-8"?>
<p:tagLst xmlns:p="http://schemas.openxmlformats.org/presentationml/2006/main">
  <p:tag name="KSO_WM_DIAGRAM_VIRTUALLY_FRAME" val="{&quot;height&quot;:276.85,&quot;left&quot;:169.4,&quot;top&quot;:152.25,&quot;width&quot;:734.9}"/>
</p:tagLst>
</file>

<file path=ppt/tags/tag39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0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1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2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3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4.xml><?xml version="1.0" encoding="utf-8"?>
<p:tagLst xmlns:p="http://schemas.openxmlformats.org/presentationml/2006/main">
  <p:tag name="KSO_WM_DIAGRAM_VIRTUALLY_FRAME" val="{&quot;height&quot;:276.85,&quot;left&quot;:169.4,&quot;top&quot;:152.25,&quot;width&quot;:734.9}"/>
</p:tagLst>
</file>

<file path=ppt/tags/tag45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6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7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8.xml><?xml version="1.0" encoding="utf-8"?>
<p:tagLst xmlns:p="http://schemas.openxmlformats.org/presentationml/2006/main">
  <p:tag name="KSO_WM_DIAGRAM_VIRTUALLY_FRAME" val="{&quot;height&quot;:317.75,&quot;left&quot;:133.8,&quot;top&quot;:160.2,&quot;width&quot;:729.7}"/>
</p:tagLst>
</file>

<file path=ppt/tags/tag49.xml><?xml version="1.0" encoding="utf-8"?>
<p:tagLst xmlns:p="http://schemas.openxmlformats.org/presentationml/2006/main">
  <p:tag name="KSO_WM_UNIT_LINE_FORE_SCHEMECOLOR_INDEX_BRIGHTNESS" val="0.3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ID" val="diagram20231058_4*l_i*1_1"/>
  <p:tag name="KSO_WM_TEMPLATE_CATEGORY" val="diagram"/>
  <p:tag name="KSO_WM_TEMPLATE_INDEX" val="20231058"/>
  <p:tag name="KSO_WM_UNIT_LAYERLEVEL" val="1_1"/>
  <p:tag name="KSO_WM_TAG_VERSION" val="3.0"/>
  <p:tag name="KSO_WM_UNIT_TYPE" val="l_i"/>
  <p:tag name="KSO_WM_UNIT_INDEX" val="1_1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5"/>
  <p:tag name="KSO_WM_DIAGRAM_USE_COLOR_VALUE" val="{&quot;color_scheme&quot;:1,&quot;color_type&quot;:1,&quot;theme_color_indexes&quot;:[5,5,5,5,5,5]}"/>
</p:tagLst>
</file>

<file path=ppt/tags/tag50.xml><?xml version="1.0" encoding="utf-8"?>
<p:tagLst xmlns:p="http://schemas.openxmlformats.org/presentationml/2006/main">
  <p:tag name="KSO_WM_UNIT_SHADOW_SCHEMECOLOR_INDEX_BRIGHTNESS" val="-0.25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1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5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5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1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5,5,5,5,5,5]}"/>
</p:tagLst>
</file>

<file path=ppt/tags/tag52.xml><?xml version="1.0" encoding="utf-8"?>
<p:tagLst xmlns:p="http://schemas.openxmlformats.org/presentationml/2006/main">
  <p:tag name="KSO_WM_UNIT_SHADOW_SCHEMECOLOR_INDEX_BRIGHTNESS" val="-0.25"/>
  <p:tag name="KSO_WM_UNIT_SHADOW_SCHEMECOLOR_INDEX" val="6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2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25,&quot;colorType&quot;:1,&quot;foreColorIndex&quot;:6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53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6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2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gradient&quot;:[{&quot;brightness&quot;:0.6000000238418579,&quot;colorType&quot;:1,&quot;foreColorIndex&quot;:6,&quot;pos&quot;:0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-0.25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5,5,5,5,5,5]}"/>
</p:tagLst>
</file>

<file path=ppt/tags/tag54.xml><?xml version="1.0" encoding="utf-8"?>
<p:tagLst xmlns:p="http://schemas.openxmlformats.org/presentationml/2006/main">
  <p:tag name="KSO_WM_UNIT_SHADOW_SCHEMECOLOR_INDEX_BRIGHTNESS" val="-0.5"/>
  <p:tag name="KSO_WM_UNIT_SHADOW_SCHEMECOLOR_INDEX" val="7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3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-0.5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55.xml><?xml version="1.0" encoding="utf-8"?>
<p:tagLst xmlns:p="http://schemas.openxmlformats.org/presentationml/2006/main">
  <p:tag name="KSO_WM_UNIT_FILL_FORE_SCHEMECOLOR_INDEX_1_BRIGHTNESS" val="0.4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8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7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3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gradient&quot;:[{&quot;brightness&quot;:0.6000000238418579,&quot;colorType&quot;:1,&quot;foreColorIndex&quot;:7,&quot;pos&quot;:0,&quot;transparency&quot;:0},{&quot;brightness&quot;:0,&quot;colorType&quot;:1,&quot;foreColorIndex&quot;:7,&quot;pos&quot;:0.800000011920929,&quot;transparency&quot;:0}],&quot;type&quot;:3},&quot;glow&quot;:{&quot;colorType&quot;:0},&quot;line&quot;:{&quot;type&quot;:0},&quot;shadow&quot;:{&quot;brightness&quot;:-0.25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5,5,5,5,5,5]}"/>
</p:tagLst>
</file>

<file path=ppt/tags/tag56.xml><?xml version="1.0" encoding="utf-8"?>
<p:tagLst xmlns:p="http://schemas.openxmlformats.org/presentationml/2006/main"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4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-0.25,&quot;colorType&quot;:1,&quot;foreColorIndex&quot;:8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57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4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brightness&quot;:-0.25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5,5,5,5,5,5]}"/>
</p:tagLst>
</file>

<file path=ppt/tags/tag58.xml><?xml version="1.0" encoding="utf-8"?>
<p:tagLst xmlns:p="http://schemas.openxmlformats.org/presentationml/2006/main"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5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-0.25,&quot;colorType&quot;:1,&quot;foreColorIndex&quot;:9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5,5,5,5,5,5]}"/>
</p:tagLst>
</file>

<file path=ppt/tags/tag59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5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gradient&quot;:[{&quot;brightness&quot;:0.6000000238418579,&quot;colorType&quot;:1,&quot;foreColorIndex&quot;:9,&quot;pos&quot;:0,&quot;transparency&quot;:0},{&quot;brightness&quot;:0,&quot;colorType&quot;:1,&quot;foreColorIndex&quot;:9,&quot;pos&quot;:0.8999999761581421,&quot;transparency&quot;:0}],&quot;type&quot;:3},&quot;glow&quot;:{&quot;colorType&quot;:0},&quot;line&quot;:{&quot;type&quot;:0},&quot;shadow&quot;:{&quot;brightness&quot;:-0.2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DIAGRAM_USE_COLOR_VALUE" val="{&quot;color_scheme&quot;:1,&quot;color_type&quot;:1,&quot;theme_color_indexes&quot;:[5,5,5,5,5,5]}"/>
</p:tagLst>
</file>

<file path=ppt/tags/tag60.xml><?xml version="1.0" encoding="utf-8"?>
<p:tagLst xmlns:p="http://schemas.openxmlformats.org/presentationml/2006/main">
  <p:tag name="KSO_WM_DIAGRAM_VIRTUALLY_FRAME" val="{&quot;height&quot;:364.3,&quot;left&quot;:55.04998779296875,&quot;top&quot;:120.25,&quot;width&quot;:923.6000122070312}"/>
</p:tagLst>
</file>

<file path=ppt/tags/tag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58_4*l_h_f*1_2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内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58_4*l_h_a*1_2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3.xml><?xml version="1.0" encoding="utf-8"?>
<p:tagLst xmlns:p="http://schemas.openxmlformats.org/presentationml/2006/main">
  <p:tag name="KSO_WM_DIAGRAM_VIRTUALLY_FRAME" val="{&quot;height&quot;:364.3,&quot;left&quot;:55.04998779296875,&quot;top&quot;:120.25,&quot;width&quot;:923.6000122070312}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58_4*l_h_f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4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6.xml><?xml version="1.0" encoding="utf-8"?>
<p:tagLst xmlns:p="http://schemas.openxmlformats.org/presentationml/2006/main">
  <p:tag name="KSO_WM_DIAGRAM_VIRTUALLY_FRAME" val="{&quot;height&quot;:364.3,&quot;left&quot;:55.04998779296875,&quot;top&quot;:120.25,&quot;width&quot;:923.6000122070312}"/>
</p:tagLst>
</file>

<file path=ppt/tags/tag6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058_4*l_h_f*1_3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1058_4*l_h_a*1_5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69.xml><?xml version="1.0" encoding="utf-8"?>
<p:tagLst xmlns:p="http://schemas.openxmlformats.org/presentationml/2006/main">
  <p:tag name="KSO_WM_DIAGRAM_VIRTUALLY_FRAME" val="{&quot;height&quot;:364.3,&quot;left&quot;:55.04998779296875,&quot;top&quot;:120.25,&quot;width&quot;:923.6000122070312}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058_4*l_h_f*1_4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内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58_4*l_h_a*1_4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72.xml><?xml version="1.0" encoding="utf-8"?>
<p:tagLst xmlns:p="http://schemas.openxmlformats.org/presentationml/2006/main">
  <p:tag name="KSO_WM_DIAGRAM_VIRTUALLY_FRAME" val="{&quot;height&quot;:364.3,&quot;left&quot;:55.04998779296875,&quot;top&quot;:120.25,&quot;width&quot;:923.6000122070312}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58_4*l_h_a*1_3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058_4*l_h_f*1_5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64.3,&quot;left&quot;:55.04998779296875,&quot;top&quot;:120.25,&quot;width&quot;:923.6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75.xml><?xml version="1.0" encoding="utf-8"?>
<p:tagLst xmlns:p="http://schemas.openxmlformats.org/presentationml/2006/main">
  <p:tag name="RESOURCE_RECORD_KEY" val="{&quot;10&quot;:[20117377],&quot;70&quot;:[3314163]}"/>
  <p:tag name="resource_record_key" val="{&quot;10&quot;:[20117377],&quot;70&quot;:[3314163,331406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4045</Words>
  <Application>WPS 演示</Application>
  <PresentationFormat>宽屏</PresentationFormat>
  <Paragraphs>358</Paragraphs>
  <Slides>21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21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Impact</vt:lpstr>
      <vt:lpstr>Times New Roman</vt:lpstr>
      <vt:lpstr>黑体</vt:lpstr>
      <vt:lpstr>等线</vt:lpstr>
      <vt:lpstr>Arial Unicode MS</vt:lpstr>
      <vt:lpstr>等线 Light</vt:lpstr>
      <vt:lpstr>Office 主题​​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Equation.KSEE3</vt:lpstr>
      <vt:lpstr>Equation.KSEE3</vt:lpstr>
      <vt:lpstr>Equation.KSEE3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 Ying</dc:creator>
  <cp:lastModifiedBy>陈可</cp:lastModifiedBy>
  <cp:revision>90</cp:revision>
  <dcterms:created xsi:type="dcterms:W3CDTF">2020-11-15T08:36:00Z</dcterms:created>
  <dcterms:modified xsi:type="dcterms:W3CDTF">2026-06-24T04:29:04Z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14D958E94B7B4F65BFD1962BF5BC77D0_13</vt:lpwstr>
  </property>
</Properties>
</file>